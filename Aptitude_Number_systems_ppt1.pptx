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3"/>
    <p:sldId id="257" r:id="rId4"/>
    <p:sldId id="258" r:id="rId5"/>
    <p:sldId id="259" r:id="rId6"/>
    <p:sldId id="260" r:id="rId7"/>
    <p:sldId id="294" r:id="rId8"/>
    <p:sldId id="293" r:id="rId9"/>
    <p:sldId id="295" r:id="rId10"/>
    <p:sldId id="296" r:id="rId11"/>
    <p:sldId id="297" r:id="rId12"/>
    <p:sldId id="298" r:id="rId13"/>
    <p:sldId id="299" r:id="rId14"/>
    <p:sldId id="308" r:id="rId15"/>
    <p:sldId id="300" r:id="rId16"/>
    <p:sldId id="301" r:id="rId17"/>
    <p:sldId id="302" r:id="rId18"/>
    <p:sldId id="303" r:id="rId19"/>
    <p:sldId id="304" r:id="rId20"/>
    <p:sldId id="305" r:id="rId21"/>
    <p:sldId id="306" r:id="rId22"/>
    <p:sldId id="307" r:id="rId23"/>
    <p:sldId id="283" r:id="rId24"/>
    <p:sldId id="261" r:id="rId25"/>
    <p:sldId id="281" r:id="rId26"/>
    <p:sldId id="284" r:id="rId28"/>
    <p:sldId id="262" r:id="rId29"/>
    <p:sldId id="263" r:id="rId30"/>
    <p:sldId id="264" r:id="rId31"/>
    <p:sldId id="265" r:id="rId32"/>
    <p:sldId id="286" r:id="rId33"/>
    <p:sldId id="287" r:id="rId34"/>
    <p:sldId id="288" r:id="rId35"/>
    <p:sldId id="289" r:id="rId36"/>
    <p:sldId id="290" r:id="rId37"/>
    <p:sldId id="291" r:id="rId38"/>
    <p:sldId id="292" r:id="rId39"/>
    <p:sldId id="285"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3" d="100"/>
          <a:sy n="83" d="100"/>
        </p:scale>
        <p:origin x="-1426" y="-77"/>
      </p:cViewPr>
      <p:guideLst>
        <p:guide orient="horz" pos="2160"/>
        <p:guide pos="2880"/>
      </p:guideLst>
    </p:cSldViewPr>
  </p:slideViewPr>
  <p:notesTextViewPr>
    <p:cViewPr>
      <p:scale>
        <a:sx n="100" d="100"/>
        <a:sy n="100" d="100"/>
      </p:scale>
      <p:origin x="0" y="0"/>
    </p:cViewPr>
  </p:notesTextViewPr>
  <p:sorterViewPr>
    <p:cViewPr>
      <p:scale>
        <a:sx n="61" d="100"/>
        <a:sy n="61" d="100"/>
      </p:scale>
      <p:origin x="0" y="0"/>
    </p:cViewPr>
  </p:sorterViewPr>
  <p:notesViewPr>
    <p:cSldViewPr>
      <p:cViewPr varScale="1">
        <p:scale>
          <a:sx n="55" d="100"/>
          <a:sy n="55" d="100"/>
        </p:scale>
        <p:origin x="-285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notesMaster" Target="notesMasters/notesMaster1.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E8AE9A8-6680-40C5-8C72-4EAB56FC52D3}"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58DE97-396E-4774-97DF-683FCF6D14E5}"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258DE97-396E-4774-97DF-683FCF6D14E5}"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457200" y="3899938"/>
            <a:ext cx="4953000" cy="1752600"/>
          </a:xfrm>
        </p:spPr>
        <p:txBody>
          <a:bodyPr/>
          <a:lstStyle>
            <a:lvl1pPr marL="64135"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705600" y="4206240"/>
            <a:ext cx="960120" cy="457200"/>
          </a:xfrm>
        </p:spPr>
        <p:txBody>
          <a:bodyPr/>
          <a:lstStyle/>
          <a:p>
            <a:fld id="{AED18E7B-D464-48B1-A819-FA16F32FE46F}" type="datetimeFigureOut">
              <a:rPr lang="en-US" smtClean="0"/>
            </a:fld>
            <a:endParaRPr lang="en-US"/>
          </a:p>
        </p:txBody>
      </p:sp>
      <p:sp>
        <p:nvSpPr>
          <p:cNvPr id="17" name="Footer Placeholder 16"/>
          <p:cNvSpPr>
            <a:spLocks noGrp="1"/>
          </p:cNvSpPr>
          <p:nvPr>
            <p:ph type="ftr" sz="quarter" idx="11"/>
          </p:nvPr>
        </p:nvSpPr>
        <p:spPr>
          <a:xfrm>
            <a:off x="5410200" y="4205288"/>
            <a:ext cx="1295400" cy="457200"/>
          </a:xfrm>
        </p:spPr>
        <p:txBody>
          <a:bodyPr/>
          <a:lstStyle/>
          <a:p>
            <a:endParaRPr lang="en-US"/>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0C2B66BF-8762-49B4-9342-3379D9D23225}"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ED18E7B-D464-48B1-A819-FA16F32FE46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2B66BF-8762-49B4-9342-3379D9D23225}"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endParaRPr kumimoji="0" lang="en-US" smtClean="0"/>
          </a:p>
        </p:txBody>
      </p:sp>
      <p:sp>
        <p:nvSpPr>
          <p:cNvPr id="4" name="Date Placeholder 3"/>
          <p:cNvSpPr>
            <a:spLocks noGrp="1"/>
          </p:cNvSpPr>
          <p:nvPr>
            <p:ph type="dt" sz="half" idx="10"/>
          </p:nvPr>
        </p:nvSpPr>
        <p:spPr/>
        <p:txBody>
          <a:bodyPr/>
          <a:lstStyle/>
          <a:p>
            <a:fld id="{AED18E7B-D464-48B1-A819-FA16F32FE46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2B66BF-8762-49B4-9342-3379D9D23225}"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ED18E7B-D464-48B1-A819-FA16F32FE46F}"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2B66BF-8762-49B4-9342-3379D9D23225}"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26" name="Date Placeholder 25"/>
          <p:cNvSpPr>
            <a:spLocks noGrp="1"/>
          </p:cNvSpPr>
          <p:nvPr>
            <p:ph type="dt" sz="half" idx="10"/>
          </p:nvPr>
        </p:nvSpPr>
        <p:spPr/>
        <p:txBody>
          <a:bodyPr rtlCol="0"/>
          <a:lstStyle/>
          <a:p>
            <a:fld id="{AED18E7B-D464-48B1-A819-FA16F32FE46F}" type="datetimeFigureOut">
              <a:rPr lang="en-US" smtClean="0"/>
            </a:fld>
            <a:endParaRPr lang="en-US"/>
          </a:p>
        </p:txBody>
      </p:sp>
      <p:sp>
        <p:nvSpPr>
          <p:cNvPr id="27" name="Slide Number Placeholder 26"/>
          <p:cNvSpPr>
            <a:spLocks noGrp="1"/>
          </p:cNvSpPr>
          <p:nvPr>
            <p:ph type="sldNum" sz="quarter" idx="11"/>
          </p:nvPr>
        </p:nvSpPr>
        <p:spPr/>
        <p:txBody>
          <a:bodyPr rtlCol="0"/>
          <a:lstStyle/>
          <a:p>
            <a:fld id="{0C2B66BF-8762-49B4-9342-3379D9D23225}" type="slidenum">
              <a:rPr lang="en-US" smtClean="0"/>
            </a:fld>
            <a:endParaRPr lang="en-US"/>
          </a:p>
        </p:txBody>
      </p:sp>
      <p:sp>
        <p:nvSpPr>
          <p:cNvPr id="28" name="Footer Placeholder 27"/>
          <p:cNvSpPr>
            <a:spLocks noGrp="1"/>
          </p:cNvSpPr>
          <p:nvPr>
            <p:ph type="ftr" sz="quarter" idx="12"/>
          </p:nvPr>
        </p:nvSpPr>
        <p:spPr/>
        <p:txBody>
          <a:bodyPr rtlCol="0"/>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583680" y="612648"/>
            <a:ext cx="957264" cy="457200"/>
          </a:xfrm>
        </p:spPr>
        <p:txBody>
          <a:bodyPr/>
          <a:lstStyle/>
          <a:p>
            <a:fld id="{AED18E7B-D464-48B1-A819-FA16F32FE46F}" type="datetimeFigureOut">
              <a:rPr lang="en-US" smtClean="0"/>
            </a:fld>
            <a:endParaRPr lang="en-US"/>
          </a:p>
        </p:txBody>
      </p:sp>
      <p:sp>
        <p:nvSpPr>
          <p:cNvPr id="4" name="Footer Placeholder 3"/>
          <p:cNvSpPr>
            <a:spLocks noGrp="1"/>
          </p:cNvSpPr>
          <p:nvPr>
            <p:ph type="ftr" sz="quarter" idx="11"/>
          </p:nvPr>
        </p:nvSpPr>
        <p:spPr>
          <a:xfrm>
            <a:off x="5257800" y="612648"/>
            <a:ext cx="1325880" cy="457200"/>
          </a:xfrm>
        </p:spPr>
        <p:txBody>
          <a:bodyPr/>
          <a:lstStyle/>
          <a:p>
            <a:endParaRPr lang="en-US"/>
          </a:p>
        </p:txBody>
      </p:sp>
      <p:sp>
        <p:nvSpPr>
          <p:cNvPr id="5" name="Slide Number Placeholder 4"/>
          <p:cNvSpPr>
            <a:spLocks noGrp="1"/>
          </p:cNvSpPr>
          <p:nvPr>
            <p:ph type="sldNum" sz="quarter" idx="12"/>
          </p:nvPr>
        </p:nvSpPr>
        <p:spPr>
          <a:xfrm>
            <a:off x="8174736" y="2272"/>
            <a:ext cx="762000" cy="365760"/>
          </a:xfrm>
        </p:spPr>
        <p:txBody>
          <a:bodyPr/>
          <a:lstStyle/>
          <a:p>
            <a:fld id="{0C2B66BF-8762-49B4-9342-3379D9D23225}"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D18E7B-D464-48B1-A819-FA16F32FE46F}"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C2B66BF-8762-49B4-9342-3379D9D23225}"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5353496" y="2010727"/>
            <a:ext cx="3383280" cy="4617720"/>
          </a:xfrm>
        </p:spPr>
        <p:txBody>
          <a:bodyPr/>
          <a:lstStyle>
            <a:lvl1pPr marL="889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endParaRPr kumimoji="0" lang="en-US" smtClean="0"/>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ED18E7B-D464-48B1-A819-FA16F32FE46F}"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2B66BF-8762-49B4-9342-3379D9D23225}"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endParaRPr kumimoji="0" lang="en-US" smtClean="0"/>
          </a:p>
        </p:txBody>
      </p:sp>
      <p:sp>
        <p:nvSpPr>
          <p:cNvPr id="5" name="Date Placeholder 4"/>
          <p:cNvSpPr>
            <a:spLocks noGrp="1"/>
          </p:cNvSpPr>
          <p:nvPr>
            <p:ph type="dt" sz="half" idx="10"/>
          </p:nvPr>
        </p:nvSpPr>
        <p:spPr/>
        <p:txBody>
          <a:bodyPr/>
          <a:lstStyle/>
          <a:p>
            <a:fld id="{AED18E7B-D464-48B1-A819-FA16F32FE46F}"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2B66BF-8762-49B4-9342-3379D9D23225}"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ED18E7B-D464-48B1-A819-FA16F32FE46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2B66BF-8762-49B4-9342-3379D9D23225}"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ED18E7B-D464-48B1-A819-FA16F32FE46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2B66BF-8762-49B4-9342-3379D9D23225}"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smtClean="0"/>
              <a:t>Click to edit Master text styles</a:t>
            </a:r>
            <a:endParaRPr kumimoji="0" lang="en-US" smtClean="0"/>
          </a:p>
          <a:p>
            <a:pPr lvl="1" eaLnBrk="1" latinLnBrk="0" hangingPunct="1"/>
            <a:r>
              <a:rPr kumimoji="0" lang="en-US" smtClean="0"/>
              <a:t>Second level</a:t>
            </a:r>
            <a:endParaRPr kumimoji="0" lang="en-US" smtClean="0"/>
          </a:p>
          <a:p>
            <a:pPr lvl="2" eaLnBrk="1" latinLnBrk="0" hangingPunct="1"/>
            <a:r>
              <a:rPr kumimoji="0" lang="en-US" smtClean="0"/>
              <a:t>Third level</a:t>
            </a:r>
            <a:endParaRPr kumimoji="0" lang="en-US" smtClean="0"/>
          </a:p>
          <a:p>
            <a:pPr lvl="3" eaLnBrk="1" latinLnBrk="0" hangingPunct="1"/>
            <a:r>
              <a:rPr kumimoji="0" lang="en-US" smtClean="0"/>
              <a:t>Fourth level</a:t>
            </a:r>
            <a:endParaRPr kumimoji="0" lang="en-US" smtClean="0"/>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AED18E7B-D464-48B1-A819-FA16F32FE46F}" type="datetimeFigureOut">
              <a:rPr lang="en-US" smtClean="0"/>
            </a:fld>
            <a:endParaRPr lang="en-US"/>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US"/>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0C2B66BF-8762-49B4-9342-3379D9D23225}"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5905" algn="l" rtl="0" eaLnBrk="1" latinLnBrk="0" hangingPunct="1">
        <a:spcBef>
          <a:spcPts val="300"/>
        </a:spcBef>
        <a:buClr>
          <a:schemeClr val="accent3"/>
        </a:buClr>
        <a:buFont typeface="Georgia" panose="02040502050405020303"/>
        <a:buChar char="•"/>
        <a:defRPr kumimoji="0" sz="2800" kern="1200">
          <a:solidFill>
            <a:schemeClr val="tx1"/>
          </a:solidFill>
          <a:latin typeface="+mn-lt"/>
          <a:ea typeface="+mn-ea"/>
          <a:cs typeface="+mn-cs"/>
        </a:defRPr>
      </a:lvl1pPr>
      <a:lvl2pPr marL="658495" indent="-247015" algn="l" rtl="0" eaLnBrk="1" latinLnBrk="0" hangingPunct="1">
        <a:spcBef>
          <a:spcPts val="300"/>
        </a:spcBef>
        <a:buClr>
          <a:schemeClr val="accent2"/>
        </a:buClr>
        <a:buFont typeface="Georgia" panose="02040502050405020303"/>
        <a:buChar char="▫"/>
        <a:defRPr kumimoji="0" sz="2600" kern="1200">
          <a:solidFill>
            <a:schemeClr val="accent2"/>
          </a:solidFill>
          <a:latin typeface="+mn-lt"/>
          <a:ea typeface="+mn-ea"/>
          <a:cs typeface="+mn-cs"/>
        </a:defRPr>
      </a:lvl2pPr>
      <a:lvl3pPr marL="923290" indent="-219710" algn="l" rtl="0" eaLnBrk="1" latinLnBrk="0" hangingPunct="1">
        <a:spcBef>
          <a:spcPts val="300"/>
        </a:spcBef>
        <a:buClr>
          <a:schemeClr val="accent1"/>
        </a:buClr>
        <a:buFont typeface="Wingdings 2" panose="05020102010507070707"/>
        <a:buChar char=""/>
        <a:defRPr kumimoji="0" sz="2400" kern="1200">
          <a:solidFill>
            <a:schemeClr val="accent1"/>
          </a:solidFill>
          <a:latin typeface="+mn-lt"/>
          <a:ea typeface="+mn-ea"/>
          <a:cs typeface="+mn-cs"/>
        </a:defRPr>
      </a:lvl3pPr>
      <a:lvl4pPr marL="1179830" indent="-201295" algn="l" rtl="0" eaLnBrk="1" latinLnBrk="0" hangingPunct="1">
        <a:spcBef>
          <a:spcPts val="300"/>
        </a:spcBef>
        <a:buClr>
          <a:schemeClr val="accent1"/>
        </a:buClr>
        <a:buFont typeface="Wingdings 2" panose="05020102010507070707"/>
        <a:buChar char=""/>
        <a:defRPr kumimoji="0" sz="2200" kern="1200">
          <a:solidFill>
            <a:schemeClr val="accent1"/>
          </a:solidFill>
          <a:latin typeface="+mn-lt"/>
          <a:ea typeface="+mn-ea"/>
          <a:cs typeface="+mn-cs"/>
        </a:defRPr>
      </a:lvl4pPr>
      <a:lvl5pPr marL="1390015" indent="-182880" algn="l" rtl="0" eaLnBrk="1" latinLnBrk="0" hangingPunct="1">
        <a:spcBef>
          <a:spcPts val="300"/>
        </a:spcBef>
        <a:buClr>
          <a:schemeClr val="accent3"/>
        </a:buClr>
        <a:buFont typeface="Georgia" panose="02040502050405020303"/>
        <a:buChar char="▫"/>
        <a:defRPr kumimoji="0" sz="2000" kern="1200">
          <a:solidFill>
            <a:schemeClr val="accent3"/>
          </a:solidFill>
          <a:latin typeface="+mn-lt"/>
          <a:ea typeface="+mn-ea"/>
          <a:cs typeface="+mn-cs"/>
        </a:defRPr>
      </a:lvl5pPr>
      <a:lvl6pPr marL="1609090" indent="-182880" algn="l" rtl="0" eaLnBrk="1" latinLnBrk="0" hangingPunct="1">
        <a:spcBef>
          <a:spcPts val="300"/>
        </a:spcBef>
        <a:buClr>
          <a:schemeClr val="accent3"/>
        </a:buClr>
        <a:buFont typeface="Georgia" panose="02040502050405020303"/>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panose="02040502050405020303"/>
        <a:buChar char="▫"/>
        <a:defRPr kumimoji="0" sz="1600" kern="1200">
          <a:solidFill>
            <a:schemeClr val="accent3"/>
          </a:solidFill>
          <a:latin typeface="+mn-lt"/>
          <a:ea typeface="+mn-ea"/>
          <a:cs typeface="+mn-cs"/>
        </a:defRPr>
      </a:lvl7pPr>
      <a:lvl8pPr marL="2030095" indent="-182880" algn="l" rtl="0" eaLnBrk="1" latinLnBrk="0" hangingPunct="1">
        <a:spcBef>
          <a:spcPts val="300"/>
        </a:spcBef>
        <a:buClr>
          <a:schemeClr val="accent3"/>
        </a:buClr>
        <a:buFont typeface="Georgia" panose="02040502050405020303"/>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panose="02040502050405020303"/>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457200"/>
            <a:ext cx="7772400" cy="2438400"/>
          </a:xfrm>
        </p:spPr>
        <p:txBody>
          <a:bodyPr>
            <a:normAutofit/>
          </a:bodyPr>
          <a:lstStyle/>
          <a:p>
            <a:br>
              <a:rPr lang="en-US" dirty="0" smtClean="0"/>
            </a:br>
            <a:r>
              <a:rPr lang="en-US" dirty="0" smtClean="0"/>
              <a:t>Number Systems</a:t>
            </a:r>
            <a:endParaRPr lang="en-US" sz="4000" dirty="0"/>
          </a:p>
        </p:txBody>
      </p:sp>
      <p:sp>
        <p:nvSpPr>
          <p:cNvPr id="3" name="Subtitle 2"/>
          <p:cNvSpPr>
            <a:spLocks noGrp="1"/>
          </p:cNvSpPr>
          <p:nvPr>
            <p:ph type="subTitle" idx="1"/>
          </p:nvPr>
        </p:nvSpPr>
        <p:spPr>
          <a:xfrm>
            <a:off x="1447800" y="4495800"/>
            <a:ext cx="6934200" cy="1752600"/>
          </a:xfrm>
        </p:spPr>
        <p:txBody>
          <a:bodyPr/>
          <a:lstStyle/>
          <a:p>
            <a:r>
              <a:rPr lang="en-US" dirty="0" smtClean="0">
                <a:solidFill>
                  <a:srgbClr val="FF0000"/>
                </a:solidFill>
                <a:effectLst>
                  <a:outerShdw blurRad="38100" dist="38100" dir="2700000" algn="tl">
                    <a:srgbClr val="000000">
                      <a:alpha val="43137"/>
                    </a:srgbClr>
                  </a:outerShdw>
                </a:effectLst>
              </a:rPr>
              <a:t>Aptitude Lecture – </a:t>
            </a:r>
            <a:r>
              <a:rPr lang="en-US" sz="2800" dirty="0" smtClean="0">
                <a:solidFill>
                  <a:srgbClr val="FF0000"/>
                </a:solidFill>
                <a:effectLst>
                  <a:outerShdw blurRad="38100" dist="38100" dir="2700000" algn="tl">
                    <a:srgbClr val="000000">
                      <a:alpha val="43137"/>
                    </a:srgbClr>
                  </a:outerShdw>
                </a:effectLst>
              </a:rPr>
              <a:t>1 &amp; 2</a:t>
            </a:r>
            <a:endParaRPr lang="en-US" sz="2800" dirty="0" smtClean="0">
              <a:solidFill>
                <a:srgbClr val="FF0000"/>
              </a:solidFill>
              <a:effectLst>
                <a:outerShdw blurRad="38100" dist="38100" dir="2700000" algn="tl">
                  <a:srgbClr val="000000">
                    <a:alpha val="43137"/>
                  </a:srgbClr>
                </a:outerShdw>
              </a:effectLst>
            </a:endParaRPr>
          </a:p>
          <a:p>
            <a:pPr algn="r"/>
            <a:r>
              <a:rPr lang="en-US" sz="1800" dirty="0" smtClean="0">
                <a:solidFill>
                  <a:srgbClr val="FF0000"/>
                </a:solidFill>
                <a:effectLst>
                  <a:outerShdw blurRad="38100" dist="38100" dir="2700000" algn="tl">
                    <a:srgbClr val="000000">
                      <a:alpha val="43137"/>
                    </a:srgbClr>
                  </a:outerShdw>
                </a:effectLst>
              </a:rPr>
              <a:t>Prepared by</a:t>
            </a:r>
            <a:endParaRPr lang="en-US" sz="1800" dirty="0" smtClean="0">
              <a:solidFill>
                <a:srgbClr val="FF0000"/>
              </a:solidFill>
              <a:effectLst>
                <a:outerShdw blurRad="38100" dist="38100" dir="2700000" algn="tl">
                  <a:srgbClr val="000000">
                    <a:alpha val="43137"/>
                  </a:srgbClr>
                </a:outerShdw>
              </a:effectLst>
            </a:endParaRPr>
          </a:p>
          <a:p>
            <a:pPr algn="r"/>
            <a:r>
              <a:rPr lang="en-US" dirty="0" err="1" smtClean="0">
                <a:solidFill>
                  <a:srgbClr val="FF0000"/>
                </a:solidFill>
                <a:effectLst>
                  <a:outerShdw blurRad="38100" dist="38100" dir="2700000" algn="tl">
                    <a:srgbClr val="000000">
                      <a:alpha val="43137"/>
                    </a:srgbClr>
                  </a:outerShdw>
                </a:effectLst>
              </a:rPr>
              <a:t>Niraj</a:t>
            </a:r>
            <a:r>
              <a:rPr lang="en-US" dirty="0" smtClean="0">
                <a:solidFill>
                  <a:srgbClr val="FF0000"/>
                </a:solidFill>
                <a:effectLst>
                  <a:outerShdw blurRad="38100" dist="38100" dir="2700000" algn="tl">
                    <a:srgbClr val="000000">
                      <a:alpha val="43137"/>
                    </a:srgbClr>
                  </a:outerShdw>
                </a:effectLst>
              </a:rPr>
              <a:t> R. </a:t>
            </a:r>
            <a:r>
              <a:rPr lang="en-US" dirty="0" err="1" smtClean="0">
                <a:solidFill>
                  <a:srgbClr val="FF0000"/>
                </a:solidFill>
                <a:effectLst>
                  <a:outerShdw blurRad="38100" dist="38100" dir="2700000" algn="tl">
                    <a:srgbClr val="000000">
                      <a:alpha val="43137"/>
                    </a:srgbClr>
                  </a:outerShdw>
                </a:effectLst>
              </a:rPr>
              <a:t>Vangani</a:t>
            </a:r>
            <a:endParaRPr lang="en-US" dirty="0">
              <a:solidFill>
                <a:srgbClr val="FF0000"/>
              </a:solidFill>
              <a:effectLst>
                <a:outerShdw blurRad="38100" dist="38100" dir="2700000" algn="tl">
                  <a:srgbClr val="000000">
                    <a:alpha val="43137"/>
                  </a:srgbClr>
                </a:outerShdw>
              </a:effectLst>
            </a:endParaRPr>
          </a:p>
        </p:txBody>
      </p:sp>
      <p:pic>
        <p:nvPicPr>
          <p:cNvPr id="4" name="Picture 3" descr="index.jpg"/>
          <p:cNvPicPr>
            <a:picLocks noChangeAspect="1"/>
          </p:cNvPicPr>
          <p:nvPr/>
        </p:nvPicPr>
        <p:blipFill>
          <a:blip r:embed="rId1"/>
          <a:stretch>
            <a:fillRect/>
          </a:stretch>
        </p:blipFill>
        <p:spPr>
          <a:xfrm>
            <a:off x="5791200" y="609600"/>
            <a:ext cx="2590800" cy="213360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p:txBody>
          <a:bodyPr/>
          <a:lstStyle/>
          <a:p>
            <a:r>
              <a:rPr lang="en-US" dirty="0" smtClean="0"/>
              <a:t>What is number systems?</a:t>
            </a:r>
            <a:endParaRPr lang="en-US" dirty="0" smtClean="0"/>
          </a:p>
          <a:p>
            <a:r>
              <a:rPr lang="en-US" dirty="0" smtClean="0"/>
              <a:t>Various types of numbers</a:t>
            </a:r>
            <a:endParaRPr lang="en-US" dirty="0" smtClean="0"/>
          </a:p>
          <a:p>
            <a:r>
              <a:rPr lang="en-US" dirty="0" smtClean="0"/>
              <a:t>Number systems examples</a:t>
            </a:r>
            <a:endParaRPr lang="en-US" dirty="0" smtClean="0"/>
          </a:p>
          <a:p>
            <a:r>
              <a:rPr lang="en-US" dirty="0" smtClean="0"/>
              <a:t>Practice questions</a:t>
            </a:r>
            <a:endParaRPr lang="en-US" dirty="0" smtClean="0"/>
          </a:p>
          <a:p>
            <a:r>
              <a:rPr lang="en-US" dirty="0" smtClean="0"/>
              <a:t>Average Main formulae</a:t>
            </a:r>
            <a:endParaRPr lang="en-US" dirty="0" smtClean="0"/>
          </a:p>
          <a:p>
            <a:r>
              <a:rPr lang="en-US" dirty="0" smtClean="0"/>
              <a:t>Average sums</a:t>
            </a:r>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What is number systems?</a:t>
            </a:r>
            <a:br>
              <a:rPr lang="en-US" dirty="0" smtClean="0"/>
            </a:br>
            <a:endParaRPr lang="en-US" dirty="0"/>
          </a:p>
        </p:txBody>
      </p:sp>
      <p:sp>
        <p:nvSpPr>
          <p:cNvPr id="3" name="Content Placeholder 2"/>
          <p:cNvSpPr>
            <a:spLocks noGrp="1"/>
          </p:cNvSpPr>
          <p:nvPr>
            <p:ph idx="1"/>
          </p:nvPr>
        </p:nvSpPr>
        <p:spPr>
          <a:xfrm>
            <a:off x="457200" y="1905000"/>
            <a:ext cx="8229600" cy="4669536"/>
          </a:xfrm>
        </p:spPr>
        <p:txBody>
          <a:bodyPr/>
          <a:lstStyle/>
          <a:p>
            <a:r>
              <a:rPr lang="en-US" sz="1800" dirty="0" smtClean="0"/>
              <a:t>In Hindu-Arabic system, we have ten digits, namely 0,1,2,3,4,5,6,7,8,9 respectively.</a:t>
            </a:r>
            <a:endParaRPr lang="en-US" sz="1800" dirty="0" smtClean="0"/>
          </a:p>
          <a:p>
            <a:r>
              <a:rPr lang="en-US" sz="1800" dirty="0" smtClean="0"/>
              <a:t>A number is denoted by a group of digits, called numeral.</a:t>
            </a:r>
            <a:endParaRPr lang="en-US" sz="1800" dirty="0" smtClean="0"/>
          </a:p>
          <a:p>
            <a:r>
              <a:rPr lang="en-US" sz="1800" dirty="0" smtClean="0"/>
              <a:t>Denotation of numerals is given below in the table.</a:t>
            </a:r>
            <a:endParaRPr lang="en-US" sz="1800" dirty="0" smtClean="0"/>
          </a:p>
          <a:p>
            <a:endParaRPr lang="en-US" dirty="0" smtClean="0"/>
          </a:p>
          <a:p>
            <a:endParaRPr lang="en-US" dirty="0"/>
          </a:p>
        </p:txBody>
      </p:sp>
      <p:graphicFrame>
        <p:nvGraphicFramePr>
          <p:cNvPr id="5" name="Table 4"/>
          <p:cNvGraphicFramePr>
            <a:graphicFrameLocks noGrp="1"/>
          </p:cNvGraphicFramePr>
          <p:nvPr/>
        </p:nvGraphicFramePr>
        <p:xfrm>
          <a:off x="609600" y="3505200"/>
          <a:ext cx="7620000" cy="2540000"/>
        </p:xfrm>
        <a:graphic>
          <a:graphicData uri="http://schemas.openxmlformats.org/drawingml/2006/table">
            <a:tbl>
              <a:tblPr firstRow="1" bandRow="1">
                <a:tableStyleId>{5940675A-B579-460E-94D1-54222C63F5DA}</a:tableStyleId>
              </a:tblPr>
              <a:tblGrid>
                <a:gridCol w="762000"/>
                <a:gridCol w="762000"/>
                <a:gridCol w="685800"/>
                <a:gridCol w="685800"/>
                <a:gridCol w="685800"/>
                <a:gridCol w="1066800"/>
                <a:gridCol w="990600"/>
                <a:gridCol w="914400"/>
                <a:gridCol w="533400"/>
                <a:gridCol w="533400"/>
              </a:tblGrid>
              <a:tr h="508000">
                <a:tc>
                  <a:txBody>
                    <a:bodyPr/>
                    <a:lstStyle/>
                    <a:p>
                      <a:pPr algn="ctr" fontAlgn="b"/>
                      <a:r>
                        <a:rPr lang="en-US" sz="1100" u="none" strike="noStrike" dirty="0"/>
                        <a:t> </a:t>
                      </a:r>
                      <a:endParaRPr lang="en-US" sz="1100" b="1" i="0" u="none" strike="noStrike" dirty="0">
                        <a:solidFill>
                          <a:srgbClr val="000000"/>
                        </a:solidFill>
                        <a:latin typeface="Calibri" panose="020F0502020204030204"/>
                      </a:endParaRPr>
                    </a:p>
                  </a:txBody>
                  <a:tcPr marL="9525" marR="9525" marT="9525" marB="0" anchor="b"/>
                </a:tc>
                <a:tc>
                  <a:txBody>
                    <a:bodyPr/>
                    <a:lstStyle/>
                    <a:p>
                      <a:pPr algn="ctr" fontAlgn="b"/>
                      <a:r>
                        <a:rPr lang="en-US" sz="1400" u="none" strike="noStrike" dirty="0"/>
                        <a:t>Ten- </a:t>
                      </a:r>
                      <a:br>
                        <a:rPr lang="en-US" sz="1400" u="none" strike="noStrike" dirty="0"/>
                      </a:br>
                      <a:r>
                        <a:rPr lang="en-US" sz="1400" u="none" strike="noStrike" dirty="0" err="1"/>
                        <a:t>Crores</a:t>
                      </a:r>
                      <a:endParaRPr lang="en-US" sz="1400" b="1" i="0" u="none" strike="noStrike" dirty="0">
                        <a:solidFill>
                          <a:srgbClr val="000000"/>
                        </a:solidFill>
                        <a:latin typeface="Calibri" panose="020F0502020204030204"/>
                      </a:endParaRPr>
                    </a:p>
                  </a:txBody>
                  <a:tcPr marL="9525" marR="9525" marT="9525" marB="0" anchor="b">
                    <a:solidFill>
                      <a:srgbClr val="FFFF00"/>
                    </a:solidFill>
                  </a:tcPr>
                </a:tc>
                <a:tc>
                  <a:txBody>
                    <a:bodyPr/>
                    <a:lstStyle/>
                    <a:p>
                      <a:pPr algn="ctr" fontAlgn="b"/>
                      <a:r>
                        <a:rPr lang="en-US" sz="1400" u="none" strike="noStrike" dirty="0" err="1"/>
                        <a:t>Crores</a:t>
                      </a:r>
                      <a:endParaRPr lang="en-US" sz="1400" b="1" i="0" u="none" strike="noStrike" dirty="0">
                        <a:solidFill>
                          <a:srgbClr val="000000"/>
                        </a:solidFill>
                        <a:latin typeface="Calibri" panose="020F0502020204030204"/>
                      </a:endParaRPr>
                    </a:p>
                  </a:txBody>
                  <a:tcPr marL="9525" marR="9525" marT="9525" marB="0" anchor="b">
                    <a:solidFill>
                      <a:srgbClr val="FFFF00"/>
                    </a:solidFill>
                  </a:tcPr>
                </a:tc>
                <a:tc>
                  <a:txBody>
                    <a:bodyPr/>
                    <a:lstStyle/>
                    <a:p>
                      <a:pPr algn="ctr" fontAlgn="b"/>
                      <a:r>
                        <a:rPr lang="en-US" sz="1400" u="none" strike="noStrike" dirty="0"/>
                        <a:t>Ten-</a:t>
                      </a:r>
                      <a:br>
                        <a:rPr lang="en-US" sz="1400" u="none" strike="noStrike" dirty="0"/>
                      </a:br>
                      <a:r>
                        <a:rPr lang="en-US" sz="1400" u="none" strike="noStrike" dirty="0" err="1"/>
                        <a:t>Lakhs</a:t>
                      </a:r>
                      <a:endParaRPr lang="en-US" sz="1400" b="1" i="0" u="none" strike="noStrike" dirty="0">
                        <a:solidFill>
                          <a:srgbClr val="000000"/>
                        </a:solidFill>
                        <a:latin typeface="Calibri" panose="020F0502020204030204"/>
                      </a:endParaRPr>
                    </a:p>
                  </a:txBody>
                  <a:tcPr marL="9525" marR="9525" marT="9525" marB="0" anchor="b">
                    <a:solidFill>
                      <a:srgbClr val="FFFF00"/>
                    </a:solidFill>
                  </a:tcPr>
                </a:tc>
                <a:tc>
                  <a:txBody>
                    <a:bodyPr/>
                    <a:lstStyle/>
                    <a:p>
                      <a:pPr algn="ctr" fontAlgn="b"/>
                      <a:r>
                        <a:rPr lang="en-US" sz="1400" u="none" strike="noStrike" dirty="0" err="1"/>
                        <a:t>Lakhs</a:t>
                      </a:r>
                      <a:endParaRPr lang="en-US" sz="1400" b="1" i="0" u="none" strike="noStrike" dirty="0">
                        <a:solidFill>
                          <a:srgbClr val="000000"/>
                        </a:solidFill>
                        <a:latin typeface="Calibri" panose="020F0502020204030204"/>
                      </a:endParaRPr>
                    </a:p>
                  </a:txBody>
                  <a:tcPr marL="9525" marR="9525" marT="9525" marB="0" anchor="b">
                    <a:solidFill>
                      <a:srgbClr val="FFFF00"/>
                    </a:solidFill>
                  </a:tcPr>
                </a:tc>
                <a:tc>
                  <a:txBody>
                    <a:bodyPr/>
                    <a:lstStyle/>
                    <a:p>
                      <a:pPr algn="ctr" fontAlgn="b"/>
                      <a:r>
                        <a:rPr lang="en-US" sz="1400" u="none" strike="noStrike" dirty="0"/>
                        <a:t>Ten-</a:t>
                      </a:r>
                      <a:br>
                        <a:rPr lang="en-US" sz="1400" u="none" strike="noStrike" dirty="0"/>
                      </a:br>
                      <a:r>
                        <a:rPr lang="en-US" sz="1400" u="none" strike="noStrike" dirty="0"/>
                        <a:t>Thousands</a:t>
                      </a:r>
                      <a:endParaRPr lang="en-US" sz="1400" b="1" i="0" u="none" strike="noStrike" dirty="0">
                        <a:solidFill>
                          <a:srgbClr val="000000"/>
                        </a:solidFill>
                        <a:latin typeface="Calibri" panose="020F0502020204030204"/>
                      </a:endParaRPr>
                    </a:p>
                  </a:txBody>
                  <a:tcPr marL="9525" marR="9525" marT="9525" marB="0" anchor="b">
                    <a:solidFill>
                      <a:srgbClr val="FFFF00"/>
                    </a:solidFill>
                  </a:tcPr>
                </a:tc>
                <a:tc>
                  <a:txBody>
                    <a:bodyPr/>
                    <a:lstStyle/>
                    <a:p>
                      <a:pPr algn="ctr" fontAlgn="b"/>
                      <a:r>
                        <a:rPr lang="en-US" sz="1400" u="none" strike="noStrike"/>
                        <a:t>Thousands</a:t>
                      </a:r>
                      <a:endParaRPr lang="en-US" sz="1400" b="1" i="0" u="none" strike="noStrike">
                        <a:solidFill>
                          <a:srgbClr val="000000"/>
                        </a:solidFill>
                        <a:latin typeface="Calibri" panose="020F0502020204030204"/>
                      </a:endParaRPr>
                    </a:p>
                  </a:txBody>
                  <a:tcPr marL="9525" marR="9525" marT="9525" marB="0" anchor="b">
                    <a:solidFill>
                      <a:srgbClr val="FFFF00"/>
                    </a:solidFill>
                  </a:tcPr>
                </a:tc>
                <a:tc>
                  <a:txBody>
                    <a:bodyPr/>
                    <a:lstStyle/>
                    <a:p>
                      <a:pPr algn="ctr" fontAlgn="b"/>
                      <a:r>
                        <a:rPr lang="en-US" sz="1400" u="none" strike="noStrike"/>
                        <a:t>Hundreds</a:t>
                      </a:r>
                      <a:endParaRPr lang="en-US" sz="1400" b="1" i="0" u="none" strike="noStrike">
                        <a:solidFill>
                          <a:srgbClr val="000000"/>
                        </a:solidFill>
                        <a:latin typeface="Calibri" panose="020F0502020204030204"/>
                      </a:endParaRPr>
                    </a:p>
                  </a:txBody>
                  <a:tcPr marL="9525" marR="9525" marT="9525" marB="0" anchor="b">
                    <a:solidFill>
                      <a:srgbClr val="FFFF00"/>
                    </a:solidFill>
                  </a:tcPr>
                </a:tc>
                <a:tc>
                  <a:txBody>
                    <a:bodyPr/>
                    <a:lstStyle/>
                    <a:p>
                      <a:pPr algn="ctr" fontAlgn="b"/>
                      <a:r>
                        <a:rPr lang="en-US" sz="1400" u="none" strike="noStrike"/>
                        <a:t>Tens</a:t>
                      </a:r>
                      <a:endParaRPr lang="en-US" sz="1400" b="1" i="0" u="none" strike="noStrike">
                        <a:solidFill>
                          <a:srgbClr val="000000"/>
                        </a:solidFill>
                        <a:latin typeface="Calibri" panose="020F0502020204030204"/>
                      </a:endParaRPr>
                    </a:p>
                  </a:txBody>
                  <a:tcPr marL="9525" marR="9525" marT="9525" marB="0" anchor="b">
                    <a:solidFill>
                      <a:srgbClr val="FFFF00"/>
                    </a:solidFill>
                  </a:tcPr>
                </a:tc>
                <a:tc>
                  <a:txBody>
                    <a:bodyPr/>
                    <a:lstStyle/>
                    <a:p>
                      <a:pPr algn="ctr" fontAlgn="b"/>
                      <a:r>
                        <a:rPr lang="en-US" sz="1400" u="none" strike="noStrike" dirty="0"/>
                        <a:t>Units</a:t>
                      </a:r>
                      <a:endParaRPr lang="en-US" sz="1400" b="1" i="0" u="none" strike="noStrike" dirty="0">
                        <a:solidFill>
                          <a:srgbClr val="000000"/>
                        </a:solidFill>
                        <a:latin typeface="Calibri" panose="020F0502020204030204"/>
                      </a:endParaRPr>
                    </a:p>
                  </a:txBody>
                  <a:tcPr marL="9525" marR="9525" marT="9525" marB="0" anchor="b">
                    <a:solidFill>
                      <a:srgbClr val="FFFF00"/>
                    </a:solidFill>
                  </a:tcPr>
                </a:tc>
              </a:tr>
              <a:tr h="508000">
                <a:tc>
                  <a:txBody>
                    <a:bodyPr/>
                    <a:lstStyle/>
                    <a:p>
                      <a:pPr algn="ctr" fontAlgn="b"/>
                      <a:r>
                        <a:rPr lang="en-US" sz="2000" u="none" strike="noStrike" dirty="0"/>
                        <a:t>(</a:t>
                      </a:r>
                      <a:r>
                        <a:rPr lang="en-US" sz="2000" u="none" strike="noStrike" dirty="0" err="1"/>
                        <a:t>i</a:t>
                      </a:r>
                      <a:r>
                        <a:rPr lang="en-US" sz="2000" u="none" strike="noStrike" dirty="0"/>
                        <a:t>)</a:t>
                      </a:r>
                      <a:endParaRPr lang="en-US" sz="2000" b="0" i="0" u="none" strike="noStrike" dirty="0">
                        <a:solidFill>
                          <a:srgbClr val="000000"/>
                        </a:solidFill>
                        <a:latin typeface="Calibri" panose="020F0502020204030204"/>
                      </a:endParaRPr>
                    </a:p>
                  </a:txBody>
                  <a:tcPr marL="9525" marR="9525" marT="9525" marB="0" anchor="b"/>
                </a:tc>
                <a:tc>
                  <a:txBody>
                    <a:bodyPr/>
                    <a:lstStyle/>
                    <a:p>
                      <a:pPr algn="ctr" fontAlgn="b"/>
                      <a:r>
                        <a:rPr lang="en-US" sz="2000" u="none" strike="noStrike" dirty="0"/>
                        <a:t> </a:t>
                      </a:r>
                      <a:endParaRPr lang="en-US" sz="2000" b="0" i="0" u="none" strike="noStrike" dirty="0">
                        <a:solidFill>
                          <a:srgbClr val="000000"/>
                        </a:solidFill>
                        <a:latin typeface="Calibri" panose="020F0502020204030204"/>
                      </a:endParaRPr>
                    </a:p>
                  </a:txBody>
                  <a:tcPr marL="9525" marR="9525" marT="9525" marB="0" anchor="b"/>
                </a:tc>
                <a:tc>
                  <a:txBody>
                    <a:bodyPr/>
                    <a:lstStyle/>
                    <a:p>
                      <a:pPr algn="ctr" fontAlgn="b"/>
                      <a:r>
                        <a:rPr lang="en-US" sz="2000" u="none" strike="noStrike"/>
                        <a:t> </a:t>
                      </a:r>
                      <a:endParaRPr lang="en-US" sz="2000" b="0" i="0" u="none" strike="noStrike">
                        <a:solidFill>
                          <a:srgbClr val="000000"/>
                        </a:solidFill>
                        <a:latin typeface="Calibri" panose="020F0502020204030204"/>
                      </a:endParaRPr>
                    </a:p>
                  </a:txBody>
                  <a:tcPr marL="9525" marR="9525" marT="9525" marB="0" anchor="b"/>
                </a:tc>
                <a:tc>
                  <a:txBody>
                    <a:bodyPr/>
                    <a:lstStyle/>
                    <a:p>
                      <a:pPr algn="ctr" fontAlgn="b"/>
                      <a:r>
                        <a:rPr lang="en-US" sz="2000" u="none" strike="noStrike"/>
                        <a:t> </a:t>
                      </a:r>
                      <a:endParaRPr lang="en-US" sz="2000" b="0" i="0" u="none" strike="noStrike">
                        <a:solidFill>
                          <a:srgbClr val="000000"/>
                        </a:solidFill>
                        <a:latin typeface="Calibri" panose="020F0502020204030204"/>
                      </a:endParaRPr>
                    </a:p>
                  </a:txBody>
                  <a:tcPr marL="9525" marR="9525" marT="9525" marB="0" anchor="b"/>
                </a:tc>
                <a:tc>
                  <a:txBody>
                    <a:bodyPr/>
                    <a:lstStyle/>
                    <a:p>
                      <a:pPr algn="ctr" fontAlgn="b"/>
                      <a:r>
                        <a:rPr lang="en-US" sz="2000" u="none" strike="noStrike" dirty="0"/>
                        <a:t>6</a:t>
                      </a:r>
                      <a:endParaRPr lang="en-US" sz="2000" b="0" i="0" u="none" strike="noStrike" dirty="0">
                        <a:solidFill>
                          <a:srgbClr val="000000"/>
                        </a:solidFill>
                        <a:latin typeface="Calibri" panose="020F0502020204030204"/>
                      </a:endParaRPr>
                    </a:p>
                  </a:txBody>
                  <a:tcPr marL="9525" marR="9525" marT="9525" marB="0" anchor="b"/>
                </a:tc>
                <a:tc>
                  <a:txBody>
                    <a:bodyPr/>
                    <a:lstStyle/>
                    <a:p>
                      <a:pPr algn="ctr" fontAlgn="b"/>
                      <a:r>
                        <a:rPr lang="en-US" sz="2000" u="none" strike="noStrike" dirty="0"/>
                        <a:t>3</a:t>
                      </a:r>
                      <a:endParaRPr lang="en-US" sz="2000" b="0" i="0" u="none" strike="noStrike" dirty="0">
                        <a:solidFill>
                          <a:srgbClr val="000000"/>
                        </a:solidFill>
                        <a:latin typeface="Calibri" panose="020F0502020204030204"/>
                      </a:endParaRPr>
                    </a:p>
                  </a:txBody>
                  <a:tcPr marL="9525" marR="9525" marT="9525" marB="0" anchor="b"/>
                </a:tc>
                <a:tc>
                  <a:txBody>
                    <a:bodyPr/>
                    <a:lstStyle/>
                    <a:p>
                      <a:pPr algn="ctr" fontAlgn="b"/>
                      <a:r>
                        <a:rPr lang="en-US" sz="2000" u="none" strike="noStrike" dirty="0"/>
                        <a:t>8</a:t>
                      </a:r>
                      <a:endParaRPr lang="en-US" sz="2000" b="0" i="0" u="none" strike="noStrike" dirty="0">
                        <a:solidFill>
                          <a:srgbClr val="000000"/>
                        </a:solidFill>
                        <a:latin typeface="Calibri" panose="020F0502020204030204"/>
                      </a:endParaRPr>
                    </a:p>
                  </a:txBody>
                  <a:tcPr marL="9525" marR="9525" marT="9525" marB="0" anchor="b"/>
                </a:tc>
                <a:tc>
                  <a:txBody>
                    <a:bodyPr/>
                    <a:lstStyle/>
                    <a:p>
                      <a:pPr algn="ctr" fontAlgn="b"/>
                      <a:r>
                        <a:rPr lang="en-US" sz="2000" u="none" strike="noStrike" dirty="0"/>
                        <a:t>5</a:t>
                      </a:r>
                      <a:endParaRPr lang="en-US" sz="2000" b="0" i="0" u="none" strike="noStrike" dirty="0">
                        <a:solidFill>
                          <a:srgbClr val="000000"/>
                        </a:solidFill>
                        <a:latin typeface="Calibri" panose="020F0502020204030204"/>
                      </a:endParaRPr>
                    </a:p>
                  </a:txBody>
                  <a:tcPr marL="9525" marR="9525" marT="9525" marB="0" anchor="b"/>
                </a:tc>
                <a:tc>
                  <a:txBody>
                    <a:bodyPr/>
                    <a:lstStyle/>
                    <a:p>
                      <a:pPr algn="ctr" fontAlgn="b"/>
                      <a:r>
                        <a:rPr lang="en-US" sz="2000" u="none" strike="noStrike" dirty="0"/>
                        <a:t>6</a:t>
                      </a:r>
                      <a:endParaRPr lang="en-US" sz="2000" b="0" i="0" u="none" strike="noStrike" dirty="0">
                        <a:solidFill>
                          <a:srgbClr val="000000"/>
                        </a:solidFill>
                        <a:latin typeface="Calibri" panose="020F0502020204030204"/>
                      </a:endParaRPr>
                    </a:p>
                  </a:txBody>
                  <a:tcPr marL="9525" marR="9525" marT="9525" marB="0" anchor="b"/>
                </a:tc>
                <a:tc>
                  <a:txBody>
                    <a:bodyPr/>
                    <a:lstStyle/>
                    <a:p>
                      <a:pPr algn="ctr" fontAlgn="b"/>
                      <a:r>
                        <a:rPr lang="en-US" sz="2000" u="none" strike="noStrike" dirty="0"/>
                        <a:t>9</a:t>
                      </a:r>
                      <a:endParaRPr lang="en-US" sz="2000" b="0" i="0" u="none" strike="noStrike" dirty="0">
                        <a:solidFill>
                          <a:srgbClr val="000000"/>
                        </a:solidFill>
                        <a:latin typeface="Calibri" panose="020F0502020204030204"/>
                      </a:endParaRPr>
                    </a:p>
                  </a:txBody>
                  <a:tcPr marL="9525" marR="9525" marT="9525" marB="0" anchor="b"/>
                </a:tc>
              </a:tr>
              <a:tr h="508000">
                <a:tc>
                  <a:txBody>
                    <a:bodyPr/>
                    <a:lstStyle/>
                    <a:p>
                      <a:pPr algn="ctr" fontAlgn="b"/>
                      <a:r>
                        <a:rPr lang="en-US" sz="2000" u="none" strike="noStrike"/>
                        <a:t>(ii)</a:t>
                      </a:r>
                      <a:endParaRPr lang="en-US" sz="2000" b="0" i="0" u="none" strike="noStrike">
                        <a:solidFill>
                          <a:srgbClr val="000000"/>
                        </a:solidFill>
                        <a:latin typeface="Calibri" panose="020F0502020204030204"/>
                      </a:endParaRPr>
                    </a:p>
                  </a:txBody>
                  <a:tcPr marL="9525" marR="9525" marT="9525" marB="0" anchor="b"/>
                </a:tc>
                <a:tc>
                  <a:txBody>
                    <a:bodyPr/>
                    <a:lstStyle/>
                    <a:p>
                      <a:pPr algn="ctr" fontAlgn="b"/>
                      <a:r>
                        <a:rPr lang="en-US" sz="2000" u="none" strike="noStrike" dirty="0"/>
                        <a:t> </a:t>
                      </a:r>
                      <a:endParaRPr lang="en-US" sz="2000" b="0" i="0" u="none" strike="noStrike" dirty="0">
                        <a:solidFill>
                          <a:srgbClr val="000000"/>
                        </a:solidFill>
                        <a:latin typeface="Calibri" panose="020F0502020204030204"/>
                      </a:endParaRPr>
                    </a:p>
                  </a:txBody>
                  <a:tcPr marL="9525" marR="9525" marT="9525" marB="0" anchor="b"/>
                </a:tc>
                <a:tc>
                  <a:txBody>
                    <a:bodyPr/>
                    <a:lstStyle/>
                    <a:p>
                      <a:pPr algn="ctr" fontAlgn="b"/>
                      <a:r>
                        <a:rPr lang="en-US" sz="2000" u="none" strike="noStrike" dirty="0"/>
                        <a:t> </a:t>
                      </a:r>
                      <a:endParaRPr lang="en-US" sz="2000" b="0" i="0" u="none" strike="noStrike" dirty="0">
                        <a:solidFill>
                          <a:srgbClr val="000000"/>
                        </a:solidFill>
                        <a:latin typeface="Calibri" panose="020F0502020204030204"/>
                      </a:endParaRPr>
                    </a:p>
                  </a:txBody>
                  <a:tcPr marL="9525" marR="9525" marT="9525" marB="0" anchor="b"/>
                </a:tc>
                <a:tc>
                  <a:txBody>
                    <a:bodyPr/>
                    <a:lstStyle/>
                    <a:p>
                      <a:pPr algn="ctr" fontAlgn="b"/>
                      <a:r>
                        <a:rPr lang="en-US" sz="2000" u="none" strike="noStrike" dirty="0"/>
                        <a:t>2</a:t>
                      </a:r>
                      <a:endParaRPr lang="en-US" sz="2000" b="0" i="0" u="none" strike="noStrike" dirty="0">
                        <a:solidFill>
                          <a:srgbClr val="000000"/>
                        </a:solidFill>
                        <a:latin typeface="Calibri" panose="020F0502020204030204"/>
                      </a:endParaRPr>
                    </a:p>
                  </a:txBody>
                  <a:tcPr marL="9525" marR="9525" marT="9525" marB="0" anchor="b"/>
                </a:tc>
                <a:tc>
                  <a:txBody>
                    <a:bodyPr/>
                    <a:lstStyle/>
                    <a:p>
                      <a:pPr algn="ctr" fontAlgn="b"/>
                      <a:r>
                        <a:rPr lang="en-US" sz="2000" u="none" strike="noStrike" dirty="0"/>
                        <a:t>3</a:t>
                      </a:r>
                      <a:endParaRPr lang="en-US" sz="2000" b="0" i="0" u="none" strike="noStrike" dirty="0">
                        <a:solidFill>
                          <a:srgbClr val="000000"/>
                        </a:solidFill>
                        <a:latin typeface="Calibri" panose="020F0502020204030204"/>
                      </a:endParaRPr>
                    </a:p>
                  </a:txBody>
                  <a:tcPr marL="9525" marR="9525" marT="9525" marB="0" anchor="b"/>
                </a:tc>
                <a:tc>
                  <a:txBody>
                    <a:bodyPr/>
                    <a:lstStyle/>
                    <a:p>
                      <a:pPr algn="ctr" fontAlgn="b"/>
                      <a:r>
                        <a:rPr lang="en-US" sz="2000" u="none" strike="noStrike" dirty="0"/>
                        <a:t>8</a:t>
                      </a:r>
                      <a:endParaRPr lang="en-US" sz="2000" b="0" i="0" u="none" strike="noStrike" dirty="0">
                        <a:solidFill>
                          <a:srgbClr val="000000"/>
                        </a:solidFill>
                        <a:latin typeface="Calibri" panose="020F0502020204030204"/>
                      </a:endParaRPr>
                    </a:p>
                  </a:txBody>
                  <a:tcPr marL="9525" marR="9525" marT="9525" marB="0" anchor="b"/>
                </a:tc>
                <a:tc>
                  <a:txBody>
                    <a:bodyPr/>
                    <a:lstStyle/>
                    <a:p>
                      <a:pPr algn="ctr" fontAlgn="b"/>
                      <a:r>
                        <a:rPr lang="en-US" sz="2000" u="none" strike="noStrike" dirty="0"/>
                        <a:t>0</a:t>
                      </a:r>
                      <a:endParaRPr lang="en-US" sz="2000" b="0" i="0" u="none" strike="noStrike" dirty="0">
                        <a:solidFill>
                          <a:srgbClr val="000000"/>
                        </a:solidFill>
                        <a:latin typeface="Calibri" panose="020F0502020204030204"/>
                      </a:endParaRPr>
                    </a:p>
                  </a:txBody>
                  <a:tcPr marL="9525" marR="9525" marT="9525" marB="0" anchor="b"/>
                </a:tc>
                <a:tc>
                  <a:txBody>
                    <a:bodyPr/>
                    <a:lstStyle/>
                    <a:p>
                      <a:pPr algn="ctr" fontAlgn="b"/>
                      <a:r>
                        <a:rPr lang="en-US" sz="2000" u="none" strike="noStrike" dirty="0"/>
                        <a:t>9</a:t>
                      </a:r>
                      <a:endParaRPr lang="en-US" sz="2000" b="0" i="0" u="none" strike="noStrike" dirty="0">
                        <a:solidFill>
                          <a:srgbClr val="000000"/>
                        </a:solidFill>
                        <a:latin typeface="Calibri" panose="020F0502020204030204"/>
                      </a:endParaRPr>
                    </a:p>
                  </a:txBody>
                  <a:tcPr marL="9525" marR="9525" marT="9525" marB="0" anchor="b"/>
                </a:tc>
                <a:tc>
                  <a:txBody>
                    <a:bodyPr/>
                    <a:lstStyle/>
                    <a:p>
                      <a:pPr algn="ctr" fontAlgn="b"/>
                      <a:r>
                        <a:rPr lang="en-US" sz="2000" u="none" strike="noStrike" dirty="0"/>
                        <a:t>7</a:t>
                      </a:r>
                      <a:endParaRPr lang="en-US" sz="2000" b="0" i="0" u="none" strike="noStrike" dirty="0">
                        <a:solidFill>
                          <a:srgbClr val="000000"/>
                        </a:solidFill>
                        <a:latin typeface="Calibri" panose="020F0502020204030204"/>
                      </a:endParaRPr>
                    </a:p>
                  </a:txBody>
                  <a:tcPr marL="9525" marR="9525" marT="9525" marB="0" anchor="b"/>
                </a:tc>
                <a:tc>
                  <a:txBody>
                    <a:bodyPr/>
                    <a:lstStyle/>
                    <a:p>
                      <a:pPr algn="ctr" fontAlgn="b"/>
                      <a:r>
                        <a:rPr lang="en-US" sz="2000" u="none" strike="noStrike" dirty="0"/>
                        <a:t>7</a:t>
                      </a:r>
                      <a:endParaRPr lang="en-US" sz="2000" b="0" i="0" u="none" strike="noStrike" dirty="0">
                        <a:solidFill>
                          <a:srgbClr val="000000"/>
                        </a:solidFill>
                        <a:latin typeface="Calibri" panose="020F0502020204030204"/>
                      </a:endParaRPr>
                    </a:p>
                  </a:txBody>
                  <a:tcPr marL="9525" marR="9525" marT="9525" marB="0" anchor="b"/>
                </a:tc>
              </a:tr>
              <a:tr h="508000">
                <a:tc>
                  <a:txBody>
                    <a:bodyPr/>
                    <a:lstStyle/>
                    <a:p>
                      <a:pPr algn="ctr" fontAlgn="b"/>
                      <a:r>
                        <a:rPr lang="en-US" sz="2000" u="none" strike="noStrike"/>
                        <a:t>(i)</a:t>
                      </a:r>
                      <a:endParaRPr lang="en-US" sz="2000" b="0" i="0" u="none" strike="noStrike">
                        <a:solidFill>
                          <a:srgbClr val="000000"/>
                        </a:solidFill>
                        <a:latin typeface="Calibri" panose="020F0502020204030204"/>
                      </a:endParaRPr>
                    </a:p>
                  </a:txBody>
                  <a:tcPr marL="9525" marR="9525" marT="9525" marB="0" anchor="b"/>
                </a:tc>
                <a:tc>
                  <a:txBody>
                    <a:bodyPr/>
                    <a:lstStyle/>
                    <a:p>
                      <a:pPr algn="ctr" fontAlgn="b"/>
                      <a:r>
                        <a:rPr lang="en-US" sz="2000" u="none" strike="noStrike"/>
                        <a:t> </a:t>
                      </a:r>
                      <a:endParaRPr lang="en-US" sz="2000" b="0" i="0" u="none" strike="noStrike">
                        <a:solidFill>
                          <a:srgbClr val="000000"/>
                        </a:solidFill>
                        <a:latin typeface="Calibri" panose="020F0502020204030204"/>
                      </a:endParaRPr>
                    </a:p>
                  </a:txBody>
                  <a:tcPr marL="9525" marR="9525" marT="9525" marB="0" anchor="b"/>
                </a:tc>
                <a:tc>
                  <a:txBody>
                    <a:bodyPr/>
                    <a:lstStyle/>
                    <a:p>
                      <a:pPr algn="ctr" fontAlgn="b"/>
                      <a:r>
                        <a:rPr lang="en-US" sz="2000" u="none" strike="noStrike"/>
                        <a:t>5</a:t>
                      </a:r>
                      <a:endParaRPr lang="en-US" sz="2000" b="0" i="0" u="none" strike="noStrike">
                        <a:solidFill>
                          <a:srgbClr val="000000"/>
                        </a:solidFill>
                        <a:latin typeface="Calibri" panose="020F0502020204030204"/>
                      </a:endParaRPr>
                    </a:p>
                  </a:txBody>
                  <a:tcPr marL="9525" marR="9525" marT="9525" marB="0" anchor="b"/>
                </a:tc>
                <a:tc>
                  <a:txBody>
                    <a:bodyPr/>
                    <a:lstStyle/>
                    <a:p>
                      <a:pPr algn="ctr" fontAlgn="b"/>
                      <a:r>
                        <a:rPr lang="en-US" sz="2000" u="none" strike="noStrike"/>
                        <a:t>5</a:t>
                      </a:r>
                      <a:endParaRPr lang="en-US" sz="2000" b="0" i="0" u="none" strike="noStrike">
                        <a:solidFill>
                          <a:srgbClr val="000000"/>
                        </a:solidFill>
                        <a:latin typeface="Calibri" panose="020F0502020204030204"/>
                      </a:endParaRPr>
                    </a:p>
                  </a:txBody>
                  <a:tcPr marL="9525" marR="9525" marT="9525" marB="0" anchor="b"/>
                </a:tc>
                <a:tc>
                  <a:txBody>
                    <a:bodyPr/>
                    <a:lstStyle/>
                    <a:p>
                      <a:pPr algn="ctr" fontAlgn="b"/>
                      <a:r>
                        <a:rPr lang="en-US" sz="2000" u="none" strike="noStrike"/>
                        <a:t>7</a:t>
                      </a:r>
                      <a:endParaRPr lang="en-US" sz="2000" b="0" i="0" u="none" strike="noStrike">
                        <a:solidFill>
                          <a:srgbClr val="000000"/>
                        </a:solidFill>
                        <a:latin typeface="Calibri" panose="020F0502020204030204"/>
                      </a:endParaRPr>
                    </a:p>
                  </a:txBody>
                  <a:tcPr marL="9525" marR="9525" marT="9525" marB="0" anchor="b"/>
                </a:tc>
                <a:tc>
                  <a:txBody>
                    <a:bodyPr/>
                    <a:lstStyle/>
                    <a:p>
                      <a:pPr algn="ctr" fontAlgn="b"/>
                      <a:r>
                        <a:rPr lang="en-US" sz="2000" u="none" strike="noStrike" dirty="0"/>
                        <a:t>0</a:t>
                      </a:r>
                      <a:endParaRPr lang="en-US" sz="2000" b="0" i="0" u="none" strike="noStrike" dirty="0">
                        <a:solidFill>
                          <a:srgbClr val="000000"/>
                        </a:solidFill>
                        <a:latin typeface="Calibri" panose="020F0502020204030204"/>
                      </a:endParaRPr>
                    </a:p>
                  </a:txBody>
                  <a:tcPr marL="9525" marR="9525" marT="9525" marB="0" anchor="b"/>
                </a:tc>
                <a:tc>
                  <a:txBody>
                    <a:bodyPr/>
                    <a:lstStyle/>
                    <a:p>
                      <a:pPr algn="ctr" fontAlgn="b"/>
                      <a:r>
                        <a:rPr lang="en-US" sz="2000" u="none" strike="noStrike" dirty="0"/>
                        <a:t>6</a:t>
                      </a:r>
                      <a:endParaRPr lang="en-US" sz="2000" b="0" i="0" u="none" strike="noStrike" dirty="0">
                        <a:solidFill>
                          <a:srgbClr val="000000"/>
                        </a:solidFill>
                        <a:latin typeface="Calibri" panose="020F0502020204030204"/>
                      </a:endParaRPr>
                    </a:p>
                  </a:txBody>
                  <a:tcPr marL="9525" marR="9525" marT="9525" marB="0" anchor="b"/>
                </a:tc>
                <a:tc>
                  <a:txBody>
                    <a:bodyPr/>
                    <a:lstStyle/>
                    <a:p>
                      <a:pPr algn="ctr" fontAlgn="b"/>
                      <a:r>
                        <a:rPr lang="en-US" sz="2000" u="none" strike="noStrike" dirty="0"/>
                        <a:t>4</a:t>
                      </a:r>
                      <a:endParaRPr lang="en-US" sz="2000" b="0" i="0" u="none" strike="noStrike" dirty="0">
                        <a:solidFill>
                          <a:srgbClr val="000000"/>
                        </a:solidFill>
                        <a:latin typeface="Calibri" panose="020F0502020204030204"/>
                      </a:endParaRPr>
                    </a:p>
                  </a:txBody>
                  <a:tcPr marL="9525" marR="9525" marT="9525" marB="0" anchor="b"/>
                </a:tc>
                <a:tc>
                  <a:txBody>
                    <a:bodyPr/>
                    <a:lstStyle/>
                    <a:p>
                      <a:pPr algn="ctr" fontAlgn="b"/>
                      <a:r>
                        <a:rPr lang="en-US" sz="2000" u="none" strike="noStrike" dirty="0"/>
                        <a:t>8</a:t>
                      </a:r>
                      <a:endParaRPr lang="en-US" sz="2000" b="0" i="0" u="none" strike="noStrike" dirty="0">
                        <a:solidFill>
                          <a:srgbClr val="000000"/>
                        </a:solidFill>
                        <a:latin typeface="Calibri" panose="020F0502020204030204"/>
                      </a:endParaRPr>
                    </a:p>
                  </a:txBody>
                  <a:tcPr marL="9525" marR="9525" marT="9525" marB="0" anchor="b"/>
                </a:tc>
                <a:tc>
                  <a:txBody>
                    <a:bodyPr/>
                    <a:lstStyle/>
                    <a:p>
                      <a:pPr algn="ctr" fontAlgn="b"/>
                      <a:r>
                        <a:rPr lang="en-US" sz="2000" u="none" strike="noStrike"/>
                        <a:t>8</a:t>
                      </a:r>
                      <a:endParaRPr lang="en-US" sz="2000" b="0" i="0" u="none" strike="noStrike">
                        <a:solidFill>
                          <a:srgbClr val="000000"/>
                        </a:solidFill>
                        <a:latin typeface="Calibri" panose="020F0502020204030204"/>
                      </a:endParaRPr>
                    </a:p>
                  </a:txBody>
                  <a:tcPr marL="9525" marR="9525" marT="9525" marB="0" anchor="b"/>
                </a:tc>
              </a:tr>
              <a:tr h="508000">
                <a:tc>
                  <a:txBody>
                    <a:bodyPr/>
                    <a:lstStyle/>
                    <a:p>
                      <a:pPr algn="ctr" fontAlgn="b"/>
                      <a:r>
                        <a:rPr lang="en-US" sz="2000" u="none" strike="noStrike"/>
                        <a:t>(ii)</a:t>
                      </a:r>
                      <a:endParaRPr lang="en-US" sz="2000" b="0" i="0" u="none" strike="noStrike">
                        <a:solidFill>
                          <a:srgbClr val="000000"/>
                        </a:solidFill>
                        <a:latin typeface="Calibri" panose="020F0502020204030204"/>
                      </a:endParaRPr>
                    </a:p>
                  </a:txBody>
                  <a:tcPr marL="9525" marR="9525" marT="9525" marB="0" anchor="b"/>
                </a:tc>
                <a:tc>
                  <a:txBody>
                    <a:bodyPr/>
                    <a:lstStyle/>
                    <a:p>
                      <a:pPr algn="ctr" fontAlgn="b"/>
                      <a:r>
                        <a:rPr lang="en-US" sz="2000" u="none" strike="noStrike"/>
                        <a:t>7</a:t>
                      </a:r>
                      <a:endParaRPr lang="en-US" sz="2000" b="0" i="0" u="none" strike="noStrike">
                        <a:solidFill>
                          <a:srgbClr val="000000"/>
                        </a:solidFill>
                        <a:latin typeface="Calibri" panose="020F0502020204030204"/>
                      </a:endParaRPr>
                    </a:p>
                  </a:txBody>
                  <a:tcPr marL="9525" marR="9525" marT="9525" marB="0" anchor="b"/>
                </a:tc>
                <a:tc>
                  <a:txBody>
                    <a:bodyPr/>
                    <a:lstStyle/>
                    <a:p>
                      <a:pPr algn="ctr" fontAlgn="b"/>
                      <a:r>
                        <a:rPr lang="en-US" sz="2000" u="none" strike="noStrike"/>
                        <a:t>9</a:t>
                      </a:r>
                      <a:endParaRPr lang="en-US" sz="2000" b="0" i="0" u="none" strike="noStrike">
                        <a:solidFill>
                          <a:srgbClr val="000000"/>
                        </a:solidFill>
                        <a:latin typeface="Calibri" panose="020F0502020204030204"/>
                      </a:endParaRPr>
                    </a:p>
                  </a:txBody>
                  <a:tcPr marL="9525" marR="9525" marT="9525" marB="0" anchor="b"/>
                </a:tc>
                <a:tc>
                  <a:txBody>
                    <a:bodyPr/>
                    <a:lstStyle/>
                    <a:p>
                      <a:pPr algn="ctr" fontAlgn="b"/>
                      <a:r>
                        <a:rPr lang="en-US" sz="2000" u="none" strike="noStrike"/>
                        <a:t>3</a:t>
                      </a:r>
                      <a:endParaRPr lang="en-US" sz="2000" b="0" i="0" u="none" strike="noStrike">
                        <a:solidFill>
                          <a:srgbClr val="000000"/>
                        </a:solidFill>
                        <a:latin typeface="Calibri" panose="020F0502020204030204"/>
                      </a:endParaRPr>
                    </a:p>
                  </a:txBody>
                  <a:tcPr marL="9525" marR="9525" marT="9525" marB="0" anchor="b"/>
                </a:tc>
                <a:tc>
                  <a:txBody>
                    <a:bodyPr/>
                    <a:lstStyle/>
                    <a:p>
                      <a:pPr algn="ctr" fontAlgn="b"/>
                      <a:r>
                        <a:rPr lang="en-US" sz="2000" u="none" strike="noStrike"/>
                        <a:t>2</a:t>
                      </a:r>
                      <a:endParaRPr lang="en-US" sz="2000" b="0" i="0" u="none" strike="noStrike">
                        <a:solidFill>
                          <a:srgbClr val="000000"/>
                        </a:solidFill>
                        <a:latin typeface="Calibri" panose="020F0502020204030204"/>
                      </a:endParaRPr>
                    </a:p>
                  </a:txBody>
                  <a:tcPr marL="9525" marR="9525" marT="9525" marB="0" anchor="b"/>
                </a:tc>
                <a:tc>
                  <a:txBody>
                    <a:bodyPr/>
                    <a:lstStyle/>
                    <a:p>
                      <a:pPr algn="ctr" fontAlgn="b"/>
                      <a:r>
                        <a:rPr lang="en-US" sz="2000" u="none" strike="noStrike" dirty="0"/>
                        <a:t>1</a:t>
                      </a:r>
                      <a:endParaRPr lang="en-US" sz="2000" b="0" i="0" u="none" strike="noStrike" dirty="0">
                        <a:solidFill>
                          <a:srgbClr val="000000"/>
                        </a:solidFill>
                        <a:latin typeface="Calibri" panose="020F0502020204030204"/>
                      </a:endParaRPr>
                    </a:p>
                  </a:txBody>
                  <a:tcPr marL="9525" marR="9525" marT="9525" marB="0" anchor="b"/>
                </a:tc>
                <a:tc>
                  <a:txBody>
                    <a:bodyPr/>
                    <a:lstStyle/>
                    <a:p>
                      <a:pPr algn="ctr" fontAlgn="b"/>
                      <a:r>
                        <a:rPr lang="en-US" sz="2000" u="none" strike="noStrike"/>
                        <a:t>6</a:t>
                      </a:r>
                      <a:endParaRPr lang="en-US" sz="2000" b="0" i="0" u="none" strike="noStrike">
                        <a:solidFill>
                          <a:srgbClr val="000000"/>
                        </a:solidFill>
                        <a:latin typeface="Calibri" panose="020F0502020204030204"/>
                      </a:endParaRPr>
                    </a:p>
                  </a:txBody>
                  <a:tcPr marL="9525" marR="9525" marT="9525" marB="0" anchor="b"/>
                </a:tc>
                <a:tc>
                  <a:txBody>
                    <a:bodyPr/>
                    <a:lstStyle/>
                    <a:p>
                      <a:pPr algn="ctr" fontAlgn="b"/>
                      <a:r>
                        <a:rPr lang="en-US" sz="2000" u="none" strike="noStrike"/>
                        <a:t>0</a:t>
                      </a:r>
                      <a:endParaRPr lang="en-US" sz="2000" b="0" i="0" u="none" strike="noStrike">
                        <a:solidFill>
                          <a:srgbClr val="000000"/>
                        </a:solidFill>
                        <a:latin typeface="Calibri" panose="020F0502020204030204"/>
                      </a:endParaRPr>
                    </a:p>
                  </a:txBody>
                  <a:tcPr marL="9525" marR="9525" marT="9525" marB="0" anchor="b"/>
                </a:tc>
                <a:tc>
                  <a:txBody>
                    <a:bodyPr/>
                    <a:lstStyle/>
                    <a:p>
                      <a:pPr algn="ctr" fontAlgn="b"/>
                      <a:r>
                        <a:rPr lang="en-US" sz="2000" u="none" strike="noStrike" dirty="0"/>
                        <a:t>9</a:t>
                      </a:r>
                      <a:endParaRPr lang="en-US" sz="2000" b="0" i="0" u="none" strike="noStrike" dirty="0">
                        <a:solidFill>
                          <a:srgbClr val="000000"/>
                        </a:solidFill>
                        <a:latin typeface="Calibri" panose="020F0502020204030204"/>
                      </a:endParaRPr>
                    </a:p>
                  </a:txBody>
                  <a:tcPr marL="9525" marR="9525" marT="9525" marB="0" anchor="b"/>
                </a:tc>
                <a:tc>
                  <a:txBody>
                    <a:bodyPr/>
                    <a:lstStyle/>
                    <a:p>
                      <a:pPr algn="ctr" fontAlgn="b"/>
                      <a:r>
                        <a:rPr lang="en-US" sz="2000" u="none" strike="noStrike" dirty="0"/>
                        <a:t>0</a:t>
                      </a:r>
                      <a:endParaRPr lang="en-US" sz="2000" b="0" i="0" u="none" strike="noStrike" dirty="0">
                        <a:solidFill>
                          <a:srgbClr val="000000"/>
                        </a:solidFill>
                        <a:latin typeface="Calibri" panose="020F0502020204030204"/>
                      </a:endParaRPr>
                    </a:p>
                  </a:txBody>
                  <a:tcPr marL="9525" marR="9525" marT="9525" marB="0" anchor="b"/>
                </a:tc>
              </a:tr>
            </a:tbl>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What is number systems? (Continue)</a:t>
            </a:r>
            <a:endParaRPr lang="en-US" dirty="0"/>
          </a:p>
        </p:txBody>
      </p:sp>
      <p:sp>
        <p:nvSpPr>
          <p:cNvPr id="3" name="Content Placeholder 2"/>
          <p:cNvSpPr>
            <a:spLocks noGrp="1"/>
          </p:cNvSpPr>
          <p:nvPr>
            <p:ph idx="1"/>
          </p:nvPr>
        </p:nvSpPr>
        <p:spPr/>
        <p:txBody>
          <a:bodyPr/>
          <a:lstStyle/>
          <a:p>
            <a:pPr>
              <a:buNone/>
            </a:pPr>
            <a:r>
              <a:rPr lang="en-US" dirty="0" smtClean="0"/>
              <a:t>Answers:</a:t>
            </a:r>
            <a:endParaRPr lang="en-US" dirty="0" smtClean="0"/>
          </a:p>
          <a:p>
            <a:pPr>
              <a:buNone/>
            </a:pPr>
            <a:r>
              <a:rPr lang="en-US" dirty="0" smtClean="0"/>
              <a:t>(</a:t>
            </a:r>
            <a:r>
              <a:rPr lang="en-US" dirty="0" err="1" smtClean="0"/>
              <a:t>i</a:t>
            </a:r>
            <a:r>
              <a:rPr lang="en-US" dirty="0" smtClean="0"/>
              <a:t>) Six </a:t>
            </a:r>
            <a:r>
              <a:rPr lang="en-US" dirty="0" err="1" smtClean="0"/>
              <a:t>lakh</a:t>
            </a:r>
            <a:r>
              <a:rPr lang="en-US" dirty="0" smtClean="0"/>
              <a:t> thirty eight thousands five hundred sixty nine. </a:t>
            </a:r>
            <a:endParaRPr lang="en-US" dirty="0" smtClean="0"/>
          </a:p>
          <a:p>
            <a:pPr>
              <a:buNone/>
            </a:pPr>
            <a:r>
              <a:rPr lang="en-US" dirty="0" smtClean="0"/>
              <a:t>(ii) Twenty three </a:t>
            </a:r>
            <a:r>
              <a:rPr lang="en-US" dirty="0" err="1" smtClean="0"/>
              <a:t>lakh</a:t>
            </a:r>
            <a:r>
              <a:rPr lang="en-US" dirty="0" smtClean="0"/>
              <a:t> Eighty thousand Nine hundred seventy seven</a:t>
            </a:r>
            <a:endParaRPr lang="en-US" dirty="0" smtClean="0"/>
          </a:p>
          <a:p>
            <a:pPr>
              <a:buNone/>
            </a:pPr>
            <a:r>
              <a:rPr lang="en-US" dirty="0" smtClean="0"/>
              <a:t>(iii) Five </a:t>
            </a:r>
            <a:r>
              <a:rPr lang="en-US" dirty="0" err="1" smtClean="0"/>
              <a:t>crore</a:t>
            </a:r>
            <a:r>
              <a:rPr lang="en-US" dirty="0" smtClean="0"/>
              <a:t> fifty seven </a:t>
            </a:r>
            <a:r>
              <a:rPr lang="en-US" dirty="0" err="1" smtClean="0"/>
              <a:t>lakh</a:t>
            </a:r>
            <a:r>
              <a:rPr lang="en-US" dirty="0" smtClean="0"/>
              <a:t> six thousand four hundred eighty eight.</a:t>
            </a:r>
            <a:endParaRPr lang="en-US" dirty="0" smtClean="0"/>
          </a:p>
          <a:p>
            <a:pPr>
              <a:buNone/>
            </a:pPr>
            <a:r>
              <a:rPr lang="en-US" dirty="0" smtClean="0"/>
              <a:t>(iv) Seventy nine </a:t>
            </a:r>
            <a:r>
              <a:rPr lang="en-US" dirty="0" err="1" smtClean="0"/>
              <a:t>crore</a:t>
            </a:r>
            <a:r>
              <a:rPr lang="en-US" dirty="0" smtClean="0"/>
              <a:t> </a:t>
            </a:r>
            <a:r>
              <a:rPr lang="en-US" dirty="0" err="1" smtClean="0"/>
              <a:t>thiry</a:t>
            </a:r>
            <a:r>
              <a:rPr lang="en-US" dirty="0" smtClean="0"/>
              <a:t> two </a:t>
            </a:r>
            <a:r>
              <a:rPr lang="en-US" dirty="0" err="1" smtClean="0"/>
              <a:t>lakh</a:t>
            </a:r>
            <a:r>
              <a:rPr lang="en-US" dirty="0" smtClean="0"/>
              <a:t> sixteen thousand ninety.</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Various types of numbers</a:t>
            </a:r>
            <a:endParaRPr lang="en-US" dirty="0"/>
          </a:p>
        </p:txBody>
      </p:sp>
      <p:sp>
        <p:nvSpPr>
          <p:cNvPr id="3" name="Content Placeholder 2"/>
          <p:cNvSpPr>
            <a:spLocks noGrp="1"/>
          </p:cNvSpPr>
          <p:nvPr>
            <p:ph idx="1"/>
          </p:nvPr>
        </p:nvSpPr>
        <p:spPr/>
        <p:txBody>
          <a:bodyPr>
            <a:normAutofit lnSpcReduction="10000"/>
          </a:bodyPr>
          <a:lstStyle/>
          <a:p>
            <a:r>
              <a:rPr lang="en-US" sz="1800" b="1" dirty="0" smtClean="0"/>
              <a:t>Natural Numbers:</a:t>
            </a:r>
            <a:endParaRPr lang="en-US" sz="1800" b="1" dirty="0" smtClean="0"/>
          </a:p>
          <a:p>
            <a:pPr>
              <a:buFontTx/>
              <a:buChar char="-"/>
            </a:pPr>
            <a:r>
              <a:rPr lang="en-US" sz="1800" dirty="0" smtClean="0"/>
              <a:t>Counting numbers are called natural numbers.</a:t>
            </a:r>
            <a:endParaRPr lang="en-US" sz="1800" dirty="0" smtClean="0"/>
          </a:p>
          <a:p>
            <a:pPr>
              <a:buFontTx/>
              <a:buChar char="-"/>
            </a:pPr>
            <a:r>
              <a:rPr lang="en-US" sz="1800" dirty="0" smtClean="0"/>
              <a:t>Example 1,2,3,4,5,6……</a:t>
            </a:r>
            <a:endParaRPr lang="en-US" sz="1800" dirty="0" smtClean="0"/>
          </a:p>
          <a:p>
            <a:r>
              <a:rPr lang="en-US" sz="1800" b="1" dirty="0" smtClean="0"/>
              <a:t>Whole Numbers:</a:t>
            </a:r>
            <a:endParaRPr lang="en-US" sz="1800" b="1" dirty="0" smtClean="0"/>
          </a:p>
          <a:p>
            <a:pPr>
              <a:buFontTx/>
              <a:buChar char="-"/>
            </a:pPr>
            <a:r>
              <a:rPr lang="en-US" sz="1800" dirty="0" smtClean="0"/>
              <a:t>All counting numbers and 0 from the set of whole numbers</a:t>
            </a:r>
            <a:endParaRPr lang="en-US" sz="1800" dirty="0" smtClean="0"/>
          </a:p>
          <a:p>
            <a:pPr>
              <a:buFontTx/>
              <a:buChar char="-"/>
            </a:pPr>
            <a:r>
              <a:rPr lang="en-US" sz="1800" dirty="0" smtClean="0"/>
              <a:t>Example 0,1,2,3,4,5,6….</a:t>
            </a:r>
            <a:endParaRPr lang="en-US" sz="1800" dirty="0" smtClean="0"/>
          </a:p>
          <a:p>
            <a:r>
              <a:rPr lang="en-US" sz="1800" b="1" dirty="0" smtClean="0"/>
              <a:t>Integers :</a:t>
            </a:r>
            <a:endParaRPr lang="en-US" sz="1800" b="1" dirty="0" smtClean="0"/>
          </a:p>
          <a:p>
            <a:pPr>
              <a:buFontTx/>
              <a:buChar char="-"/>
            </a:pPr>
            <a:r>
              <a:rPr lang="en-US" sz="1800" dirty="0" smtClean="0"/>
              <a:t>All counting numbers, zero and negatives of counting numbers from the set of integers.</a:t>
            </a:r>
            <a:endParaRPr lang="en-US" sz="1800" dirty="0" smtClean="0"/>
          </a:p>
          <a:p>
            <a:pPr>
              <a:buFontTx/>
              <a:buChar char="-"/>
            </a:pPr>
            <a:r>
              <a:rPr lang="en-US" sz="1800" dirty="0" smtClean="0"/>
              <a:t>Example -5,-4,-3,-2,-1, 0,1,2,3,4,5</a:t>
            </a:r>
            <a:endParaRPr lang="en-US" sz="1800" dirty="0" smtClean="0"/>
          </a:p>
          <a:p>
            <a:r>
              <a:rPr lang="en-US" sz="1800" b="1" dirty="0" smtClean="0"/>
              <a:t>Even and Odd Numbers:</a:t>
            </a:r>
            <a:endParaRPr lang="en-US" sz="1800" b="1" dirty="0" smtClean="0"/>
          </a:p>
          <a:p>
            <a:pPr>
              <a:buFontTx/>
              <a:buChar char="-"/>
            </a:pPr>
            <a:r>
              <a:rPr lang="en-US" sz="1800" dirty="0" smtClean="0"/>
              <a:t>A counting number divisible by 2 is called  even number.</a:t>
            </a:r>
            <a:endParaRPr lang="en-US" sz="1800" dirty="0" smtClean="0"/>
          </a:p>
          <a:p>
            <a:pPr>
              <a:buFontTx/>
              <a:buChar char="-"/>
            </a:pPr>
            <a:r>
              <a:rPr lang="en-US" sz="1800" dirty="0" smtClean="0"/>
              <a:t>Example 2,4,6,8,10,12……..</a:t>
            </a:r>
            <a:endParaRPr lang="en-US" sz="1800" dirty="0" smtClean="0"/>
          </a:p>
          <a:p>
            <a:pPr>
              <a:buFontTx/>
              <a:buChar char="-"/>
            </a:pPr>
            <a:r>
              <a:rPr lang="en-US" sz="1800" dirty="0" smtClean="0"/>
              <a:t>A counting number not divisible by 2 is called Odd numbers.</a:t>
            </a:r>
            <a:endParaRPr lang="en-US" sz="1800" dirty="0" smtClean="0"/>
          </a:p>
          <a:p>
            <a:pPr>
              <a:buFontTx/>
              <a:buChar char="-"/>
            </a:pPr>
            <a:r>
              <a:rPr lang="en-US" sz="1800" dirty="0" smtClean="0"/>
              <a:t>Example 1,3,5,7,9,11,13….</a:t>
            </a:r>
            <a:endParaRPr lang="en-US" sz="1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Various types of numbers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Prime number : The number which is divisible by itself or 1, called prime number. </a:t>
            </a:r>
            <a:endParaRPr lang="en-US" dirty="0" smtClean="0"/>
          </a:p>
          <a:p>
            <a:r>
              <a:rPr lang="en-US" dirty="0" smtClean="0"/>
              <a:t>Composite number : The number which is divisible by more then 2 digits (1 itself, and 1) is known as Composite number.</a:t>
            </a:r>
            <a:endParaRPr lang="en-US" dirty="0" smtClean="0"/>
          </a:p>
          <a:p>
            <a:r>
              <a:rPr lang="en-US" dirty="0" smtClean="0"/>
              <a:t>Form of numbers writing </a:t>
            </a:r>
            <a:endParaRPr lang="en-US" dirty="0" smtClean="0"/>
          </a:p>
          <a:p>
            <a:pPr>
              <a:buNone/>
            </a:pPr>
            <a:r>
              <a:rPr lang="en-US" dirty="0" err="1" smtClean="0"/>
              <a:t>e.g</a:t>
            </a:r>
            <a:r>
              <a:rPr lang="en-US" dirty="0" smtClean="0"/>
              <a:t> 74-xy ---</a:t>
            </a:r>
            <a:r>
              <a:rPr lang="en-US" dirty="0" smtClean="0">
                <a:sym typeface="Wingdings" panose="05000000000000000000" pitchFamily="2" charset="2"/>
              </a:rPr>
              <a:t> 10x+y= (10*7)+4 </a:t>
            </a:r>
            <a:endParaRPr lang="en-US" dirty="0" smtClean="0"/>
          </a:p>
          <a:p>
            <a:pPr>
              <a:buNone/>
            </a:pPr>
            <a:r>
              <a:rPr lang="en-US" dirty="0" smtClean="0"/>
              <a:t>What is place value and what is face value?</a:t>
            </a:r>
            <a:endParaRPr lang="en-US" dirty="0" smtClean="0"/>
          </a:p>
          <a:p>
            <a:pPr>
              <a:buNone/>
            </a:pPr>
            <a:r>
              <a:rPr lang="en-US" dirty="0" err="1" smtClean="0"/>
              <a:t>e.g</a:t>
            </a:r>
            <a:r>
              <a:rPr lang="en-US" dirty="0" smtClean="0"/>
              <a:t> what is 3 in 639?</a:t>
            </a:r>
            <a:endParaRPr lang="en-US" dirty="0" smtClean="0"/>
          </a:p>
          <a:p>
            <a:pPr>
              <a:buNone/>
            </a:pPr>
            <a:r>
              <a:rPr lang="en-US" dirty="0" smtClean="0"/>
              <a:t>Face value : 3</a:t>
            </a:r>
            <a:endParaRPr lang="en-US" dirty="0" smtClean="0"/>
          </a:p>
          <a:p>
            <a:pPr>
              <a:buNone/>
            </a:pPr>
            <a:r>
              <a:rPr lang="en-US" dirty="0" smtClean="0"/>
              <a:t>Place value : 30</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Some logical questions related to numbers</a:t>
            </a:r>
            <a:endParaRPr lang="en-US" dirty="0"/>
          </a:p>
        </p:txBody>
      </p:sp>
      <p:sp>
        <p:nvSpPr>
          <p:cNvPr id="3" name="Content Placeholder 2"/>
          <p:cNvSpPr>
            <a:spLocks noGrp="1"/>
          </p:cNvSpPr>
          <p:nvPr>
            <p:ph idx="1"/>
          </p:nvPr>
        </p:nvSpPr>
        <p:spPr/>
        <p:txBody>
          <a:bodyPr>
            <a:normAutofit/>
          </a:bodyPr>
          <a:lstStyle/>
          <a:p>
            <a:r>
              <a:rPr lang="en-US" dirty="0" smtClean="0"/>
              <a:t>Maximum how many numbers of 2 digit values possible?</a:t>
            </a:r>
            <a:endParaRPr lang="en-US" dirty="0" smtClean="0"/>
          </a:p>
          <a:p>
            <a:pPr>
              <a:buNone/>
            </a:pPr>
            <a:r>
              <a:rPr lang="en-US" dirty="0" err="1" smtClean="0"/>
              <a:t>Soln</a:t>
            </a:r>
            <a:r>
              <a:rPr lang="en-US" dirty="0" smtClean="0"/>
              <a:t>: 99-9 =90</a:t>
            </a:r>
            <a:endParaRPr lang="en-US" dirty="0" smtClean="0"/>
          </a:p>
          <a:p>
            <a:pPr>
              <a:buNone/>
            </a:pPr>
            <a:r>
              <a:rPr lang="en-US" dirty="0" smtClean="0"/>
              <a:t>Maximum how many numbers of 3 digit values possible?</a:t>
            </a:r>
            <a:endParaRPr lang="en-US" dirty="0" smtClean="0"/>
          </a:p>
          <a:p>
            <a:pPr>
              <a:buNone/>
            </a:pPr>
            <a:r>
              <a:rPr lang="en-US" dirty="0" err="1" smtClean="0"/>
              <a:t>Soln</a:t>
            </a:r>
            <a:r>
              <a:rPr lang="en-US" dirty="0" smtClean="0"/>
              <a:t>: 999-99 =900</a:t>
            </a:r>
            <a:endParaRPr lang="en-US" dirty="0" smtClean="0"/>
          </a:p>
          <a:p>
            <a:pPr>
              <a:buNone/>
            </a:pPr>
            <a:r>
              <a:rPr lang="en-US" dirty="0" smtClean="0"/>
              <a:t>Maximum how many numbers of 4 digit values possible?</a:t>
            </a:r>
            <a:endParaRPr lang="en-US" dirty="0" smtClean="0"/>
          </a:p>
          <a:p>
            <a:pPr>
              <a:buNone/>
            </a:pPr>
            <a:r>
              <a:rPr lang="en-US" dirty="0" err="1" smtClean="0"/>
              <a:t>Soln</a:t>
            </a:r>
            <a:r>
              <a:rPr lang="en-US" dirty="0" smtClean="0"/>
              <a:t>: 9999-999 =9000</a:t>
            </a:r>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71600"/>
            <a:ext cx="8229600" cy="5202936"/>
          </a:xfrm>
        </p:spPr>
        <p:txBody>
          <a:bodyPr/>
          <a:lstStyle/>
          <a:p>
            <a:pPr marL="624205" indent="-514350" algn="just">
              <a:buNone/>
            </a:pPr>
            <a:r>
              <a:rPr lang="en-US" dirty="0" smtClean="0"/>
              <a:t>Question : What is the sum of Smallest </a:t>
            </a:r>
            <a:r>
              <a:rPr lang="en-US" dirty="0" err="1" smtClean="0"/>
              <a:t>number+highest</a:t>
            </a:r>
            <a:r>
              <a:rPr lang="en-US" dirty="0" smtClean="0"/>
              <a:t> number from the given digits 6,1,4,2,5?</a:t>
            </a:r>
            <a:endParaRPr lang="en-US" dirty="0" smtClean="0"/>
          </a:p>
          <a:p>
            <a:pPr marL="624205" indent="-514350">
              <a:buNone/>
            </a:pPr>
            <a:endParaRPr lang="en-US" dirty="0" smtClean="0"/>
          </a:p>
          <a:p>
            <a:pPr marL="624205" indent="-514350">
              <a:buAutoNum type="alphaUcParenBoth"/>
            </a:pPr>
            <a:r>
              <a:rPr lang="en-US" dirty="0" smtClean="0"/>
              <a:t>52956</a:t>
            </a:r>
            <a:endParaRPr lang="en-US" dirty="0" smtClean="0"/>
          </a:p>
          <a:p>
            <a:pPr marL="624205" indent="-514350">
              <a:buAutoNum type="alphaUcParenBoth"/>
            </a:pPr>
            <a:r>
              <a:rPr lang="en-US" dirty="0" smtClean="0"/>
              <a:t>77877</a:t>
            </a:r>
            <a:endParaRPr lang="en-US" dirty="0" smtClean="0"/>
          </a:p>
          <a:p>
            <a:pPr marL="624205" indent="-514350">
              <a:buAutoNum type="alphaUcParenBoth"/>
            </a:pPr>
            <a:r>
              <a:rPr lang="en-US" dirty="0" smtClean="0"/>
              <a:t>52965</a:t>
            </a:r>
            <a:endParaRPr lang="en-US" dirty="0" smtClean="0"/>
          </a:p>
          <a:p>
            <a:pPr marL="624205" indent="-514350">
              <a:buAutoNum type="alphaUcParenBoth"/>
            </a:pPr>
            <a:r>
              <a:rPr lang="en-US" dirty="0" smtClean="0"/>
              <a:t>77868</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Unit Digit Concept</a:t>
            </a:r>
            <a:endParaRPr lang="en-US" dirty="0"/>
          </a:p>
        </p:txBody>
      </p:sp>
      <p:sp>
        <p:nvSpPr>
          <p:cNvPr id="3" name="Content Placeholder 2"/>
          <p:cNvSpPr>
            <a:spLocks noGrp="1"/>
          </p:cNvSpPr>
          <p:nvPr>
            <p:ph idx="1"/>
          </p:nvPr>
        </p:nvSpPr>
        <p:spPr/>
        <p:txBody>
          <a:bodyPr/>
          <a:lstStyle/>
          <a:p>
            <a:pPr>
              <a:buNone/>
            </a:pPr>
            <a:r>
              <a:rPr lang="en-US" dirty="0" smtClean="0"/>
              <a:t>Questions:</a:t>
            </a:r>
            <a:endParaRPr lang="en-US" dirty="0" smtClean="0"/>
          </a:p>
          <a:p>
            <a:pPr marL="624205" indent="-514350">
              <a:buAutoNum type="arabicParenBoth"/>
            </a:pPr>
            <a:r>
              <a:rPr lang="en-US" dirty="0" smtClean="0"/>
              <a:t>8 * 69 * 39 = __8</a:t>
            </a:r>
            <a:endParaRPr lang="en-US" dirty="0" smtClean="0"/>
          </a:p>
          <a:p>
            <a:pPr marL="624205" indent="-514350">
              <a:buNone/>
            </a:pPr>
            <a:r>
              <a:rPr lang="en-US" dirty="0" smtClean="0"/>
              <a:t>A. 22547   B.78452  C. 21528  D. </a:t>
            </a:r>
            <a:r>
              <a:rPr lang="en-US" smtClean="0"/>
              <a:t>24789</a:t>
            </a:r>
            <a:endParaRPr lang="en-US" dirty="0" smtClean="0"/>
          </a:p>
          <a:p>
            <a:pPr marL="624205" indent="-514350">
              <a:buAutoNum type="arabicParenBoth"/>
            </a:pPr>
            <a:r>
              <a:rPr lang="en-US" dirty="0" smtClean="0"/>
              <a:t>997*868*47*49*212 = ___6</a:t>
            </a:r>
            <a:endParaRPr lang="en-US" dirty="0" smtClean="0"/>
          </a:p>
          <a:p>
            <a:pPr marL="624205" indent="-514350">
              <a:buAutoNum type="arabicParenBoth"/>
            </a:pPr>
            <a:r>
              <a:rPr lang="en-US" dirty="0" smtClean="0"/>
              <a:t>45*47*56*3562*126 = ___0</a:t>
            </a:r>
            <a:endParaRPr lang="en-US" dirty="0" smtClean="0"/>
          </a:p>
          <a:p>
            <a:pPr marL="624205" indent="-514350">
              <a:buAutoNum type="arabicParenBoth"/>
            </a:pPr>
            <a:r>
              <a:rPr lang="en-US" dirty="0" smtClean="0"/>
              <a:t>(222)^3+ (743)^7</a:t>
            </a:r>
            <a:endParaRPr lang="en-US" dirty="0" smtClean="0"/>
          </a:p>
          <a:p>
            <a:pPr marL="624205" indent="-514350">
              <a:buAutoNum type="arabicParenBoth"/>
            </a:pP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err="1" smtClean="0"/>
              <a:t>X</a:t>
            </a:r>
            <a:r>
              <a:rPr lang="en-US" b="1" u="sng" baseline="30000" dirty="0" err="1" smtClean="0"/>
              <a:t>n</a:t>
            </a:r>
            <a:r>
              <a:rPr lang="en-US" b="1" u="sng" baseline="30000" dirty="0" smtClean="0"/>
              <a:t> </a:t>
            </a:r>
            <a:r>
              <a:rPr lang="en-US" b="1" u="sng" dirty="0" smtClean="0"/>
              <a:t>for Unit Digits (short cuts)</a:t>
            </a:r>
            <a:br>
              <a:rPr lang="en-US" dirty="0" smtClean="0"/>
            </a:br>
            <a:endParaRPr lang="en-US" dirty="0"/>
          </a:p>
        </p:txBody>
      </p:sp>
      <p:sp>
        <p:nvSpPr>
          <p:cNvPr id="3" name="Content Placeholder 2"/>
          <p:cNvSpPr>
            <a:spLocks noGrp="1"/>
          </p:cNvSpPr>
          <p:nvPr>
            <p:ph idx="1"/>
          </p:nvPr>
        </p:nvSpPr>
        <p:spPr/>
        <p:txBody>
          <a:bodyPr>
            <a:normAutofit/>
          </a:bodyPr>
          <a:lstStyle/>
          <a:p>
            <a:pPr>
              <a:buNone/>
            </a:pPr>
            <a:r>
              <a:rPr lang="en-US" b="1" dirty="0" smtClean="0"/>
              <a:t>(1) UNIT DIGIT CONCEPT FOR  (0,1,5,6)</a:t>
            </a:r>
            <a:endParaRPr lang="en-US" dirty="0" smtClean="0"/>
          </a:p>
          <a:p>
            <a:r>
              <a:rPr lang="en-US" dirty="0" smtClean="0"/>
              <a:t>  If these digits are given, don't care about power n ....unit digit would be same digit you can pick from the given 4 answers.</a:t>
            </a:r>
            <a:endParaRPr lang="en-US" dirty="0" smtClean="0"/>
          </a:p>
          <a:p>
            <a:r>
              <a:rPr lang="en-US" dirty="0" err="1" smtClean="0"/>
              <a:t>e.g</a:t>
            </a:r>
            <a:r>
              <a:rPr lang="en-US" dirty="0" smtClean="0"/>
              <a:t> (69875)</a:t>
            </a:r>
            <a:r>
              <a:rPr lang="en-US" baseline="30000" dirty="0" smtClean="0"/>
              <a:t>98768</a:t>
            </a:r>
            <a:r>
              <a:rPr lang="en-US" dirty="0" smtClean="0"/>
              <a:t> =  ______5</a:t>
            </a:r>
            <a:endParaRPr lang="en-US" dirty="0" smtClean="0"/>
          </a:p>
          <a:p>
            <a:r>
              <a:rPr lang="en-US" dirty="0" smtClean="0"/>
              <a:t>(91245)</a:t>
            </a:r>
            <a:r>
              <a:rPr lang="en-US" baseline="30000" dirty="0" smtClean="0"/>
              <a:t>56</a:t>
            </a:r>
            <a:r>
              <a:rPr lang="en-US" dirty="0" smtClean="0"/>
              <a:t>+ (7866)</a:t>
            </a:r>
            <a:r>
              <a:rPr lang="en-US" baseline="30000" dirty="0" smtClean="0"/>
              <a:t>56</a:t>
            </a:r>
            <a:r>
              <a:rPr lang="en-US" dirty="0" smtClean="0"/>
              <a:t>+ (211)</a:t>
            </a:r>
            <a:r>
              <a:rPr lang="en-US" baseline="30000" dirty="0" smtClean="0"/>
              <a:t>3</a:t>
            </a:r>
            <a:endParaRPr lang="en-US" baseline="30000" dirty="0" smtClean="0"/>
          </a:p>
          <a:p>
            <a:pPr>
              <a:buNone/>
            </a:pPr>
            <a:r>
              <a:rPr lang="en-US" dirty="0" smtClean="0"/>
              <a:t> = ___5 +___6+___1 </a:t>
            </a:r>
            <a:endParaRPr lang="en-US" dirty="0" smtClean="0"/>
          </a:p>
          <a:p>
            <a:pPr>
              <a:buNone/>
            </a:pPr>
            <a:r>
              <a:rPr lang="en-US" dirty="0" smtClean="0"/>
              <a:t>= ____2</a:t>
            </a:r>
            <a:endParaRPr lang="en-US" dirty="0" smtClean="0"/>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err="1" smtClean="0"/>
              <a:t>X</a:t>
            </a:r>
            <a:r>
              <a:rPr lang="en-US" b="1" u="sng" baseline="30000" dirty="0" err="1" smtClean="0"/>
              <a:t>n</a:t>
            </a:r>
            <a:r>
              <a:rPr lang="en-US" b="1" u="sng" baseline="30000" dirty="0" smtClean="0"/>
              <a:t> </a:t>
            </a:r>
            <a:r>
              <a:rPr lang="en-US" b="1" u="sng" dirty="0" smtClean="0"/>
              <a:t>for Unit Digits (short cuts)</a:t>
            </a:r>
            <a:endParaRPr lang="en-US" dirty="0"/>
          </a:p>
        </p:txBody>
      </p:sp>
      <p:sp>
        <p:nvSpPr>
          <p:cNvPr id="3" name="Content Placeholder 2"/>
          <p:cNvSpPr>
            <a:spLocks noGrp="1"/>
          </p:cNvSpPr>
          <p:nvPr>
            <p:ph idx="1"/>
          </p:nvPr>
        </p:nvSpPr>
        <p:spPr/>
        <p:txBody>
          <a:bodyPr>
            <a:normAutofit fontScale="77500" lnSpcReduction="20000"/>
          </a:bodyPr>
          <a:lstStyle/>
          <a:p>
            <a:r>
              <a:rPr lang="en-US" b="1" dirty="0" smtClean="0"/>
              <a:t>(2) UNIT DIGIT CONCEPT FOR  (4,9)</a:t>
            </a:r>
            <a:endParaRPr lang="en-US" dirty="0" smtClean="0"/>
          </a:p>
          <a:p>
            <a:r>
              <a:rPr lang="en-US" dirty="0" smtClean="0"/>
              <a:t> If these 2 digits are given  2 conditions would be there digit 4:</a:t>
            </a:r>
            <a:endParaRPr lang="en-US" dirty="0" smtClean="0"/>
          </a:p>
          <a:p>
            <a:r>
              <a:rPr lang="en-US" dirty="0" smtClean="0"/>
              <a:t>(</a:t>
            </a:r>
            <a:r>
              <a:rPr lang="en-US" dirty="0" err="1" smtClean="0"/>
              <a:t>i</a:t>
            </a:r>
            <a:r>
              <a:rPr lang="en-US" dirty="0" smtClean="0"/>
              <a:t>) If unit digit of power is odd - Answer of unit digit is 4 </a:t>
            </a:r>
            <a:endParaRPr lang="en-US" dirty="0" smtClean="0"/>
          </a:p>
          <a:p>
            <a:r>
              <a:rPr lang="en-US" dirty="0" smtClean="0"/>
              <a:t>(</a:t>
            </a:r>
            <a:r>
              <a:rPr lang="en-US" dirty="0" err="1" smtClean="0"/>
              <a:t>iI</a:t>
            </a:r>
            <a:r>
              <a:rPr lang="en-US" dirty="0" smtClean="0"/>
              <a:t>) If unit digit of power is even - Answer of unit digit is 6</a:t>
            </a:r>
            <a:endParaRPr lang="en-US" dirty="0" smtClean="0"/>
          </a:p>
          <a:p>
            <a:r>
              <a:rPr lang="en-US" dirty="0" smtClean="0"/>
              <a:t>If these 2 digits are given  2 conditions would be there digit 9:</a:t>
            </a:r>
            <a:endParaRPr lang="en-US" dirty="0" smtClean="0"/>
          </a:p>
          <a:p>
            <a:r>
              <a:rPr lang="en-US" dirty="0" smtClean="0"/>
              <a:t>(</a:t>
            </a:r>
            <a:r>
              <a:rPr lang="en-US" dirty="0" err="1" smtClean="0"/>
              <a:t>i</a:t>
            </a:r>
            <a:r>
              <a:rPr lang="en-US" dirty="0" smtClean="0"/>
              <a:t>) If unit digit of power is odd - Answer of unit digit is 9</a:t>
            </a:r>
            <a:endParaRPr lang="en-US" dirty="0" smtClean="0"/>
          </a:p>
          <a:p>
            <a:r>
              <a:rPr lang="en-US" dirty="0" smtClean="0"/>
              <a:t>(</a:t>
            </a:r>
            <a:r>
              <a:rPr lang="en-US" dirty="0" err="1" smtClean="0"/>
              <a:t>iI</a:t>
            </a:r>
            <a:r>
              <a:rPr lang="en-US" dirty="0" smtClean="0"/>
              <a:t>) If unit digit of power is even - Answer of unit digit is 1</a:t>
            </a:r>
            <a:endParaRPr lang="en-US" dirty="0" smtClean="0"/>
          </a:p>
          <a:p>
            <a:endParaRPr lang="en-US" dirty="0" smtClean="0"/>
          </a:p>
          <a:p>
            <a:r>
              <a:rPr lang="en-US" dirty="0" err="1" smtClean="0"/>
              <a:t>e.g</a:t>
            </a:r>
            <a:r>
              <a:rPr lang="en-US" dirty="0" smtClean="0"/>
              <a:t> 1. (9464)</a:t>
            </a:r>
            <a:r>
              <a:rPr lang="en-US" baseline="30000" dirty="0" smtClean="0"/>
              <a:t>467</a:t>
            </a:r>
            <a:r>
              <a:rPr lang="en-US" dirty="0" smtClean="0"/>
              <a:t> * (9566)</a:t>
            </a:r>
            <a:r>
              <a:rPr lang="en-US" baseline="30000" dirty="0" smtClean="0"/>
              <a:t>456</a:t>
            </a:r>
            <a:r>
              <a:rPr lang="en-US" dirty="0" smtClean="0"/>
              <a:t> =  ___4 *___6 =___4</a:t>
            </a:r>
            <a:endParaRPr lang="en-US" dirty="0" smtClean="0"/>
          </a:p>
          <a:p>
            <a:r>
              <a:rPr lang="en-US" dirty="0" smtClean="0"/>
              <a:t>2. (79)</a:t>
            </a:r>
            <a:r>
              <a:rPr lang="en-US" baseline="30000" dirty="0" smtClean="0"/>
              <a:t>68</a:t>
            </a:r>
            <a:r>
              <a:rPr lang="en-US" dirty="0" smtClean="0"/>
              <a:t> * (454)</a:t>
            </a:r>
            <a:r>
              <a:rPr lang="en-US" baseline="30000" dirty="0" smtClean="0"/>
              <a:t>65</a:t>
            </a:r>
            <a:r>
              <a:rPr lang="en-US" dirty="0" smtClean="0"/>
              <a:t> * (1565)</a:t>
            </a:r>
            <a:r>
              <a:rPr lang="en-US" baseline="30000" dirty="0" smtClean="0"/>
              <a:t>112</a:t>
            </a:r>
            <a:r>
              <a:rPr lang="en-US" dirty="0" smtClean="0"/>
              <a:t> = __1*___4* ___5 = ____0</a:t>
            </a:r>
            <a:endParaRPr lang="en-US" dirty="0" smtClean="0"/>
          </a:p>
          <a:p>
            <a:endParaRPr lang="en-US" dirty="0" smtClean="0"/>
          </a:p>
          <a:p>
            <a:pPr>
              <a:buNone/>
            </a:pPr>
            <a:endParaRPr lang="en-US" dirty="0" smtClean="0"/>
          </a:p>
          <a:p>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(3) UNIT DIGIT CONCEPT FOR  (3,7)</a:t>
            </a:r>
            <a:br>
              <a:rPr lang="en-US" dirty="0" smtClean="0"/>
            </a:br>
            <a:endParaRPr lang="en-US" dirty="0"/>
          </a:p>
        </p:txBody>
      </p:sp>
      <p:sp>
        <p:nvSpPr>
          <p:cNvPr id="3" name="Content Placeholder 2"/>
          <p:cNvSpPr>
            <a:spLocks noGrp="1"/>
          </p:cNvSpPr>
          <p:nvPr>
            <p:ph idx="1"/>
          </p:nvPr>
        </p:nvSpPr>
        <p:spPr/>
        <p:txBody>
          <a:bodyPr>
            <a:normAutofit/>
          </a:bodyPr>
          <a:lstStyle/>
          <a:p>
            <a:r>
              <a:rPr lang="en-US" baseline="30000" dirty="0" smtClean="0"/>
              <a:t>In </a:t>
            </a:r>
            <a:r>
              <a:rPr lang="en-US" dirty="0" smtClean="0"/>
              <a:t>this case power n is divided by 4</a:t>
            </a:r>
            <a:endParaRPr lang="en-US" dirty="0" smtClean="0"/>
          </a:p>
          <a:p>
            <a:r>
              <a:rPr lang="en-US" dirty="0" smtClean="0"/>
              <a:t>(</a:t>
            </a:r>
            <a:r>
              <a:rPr lang="en-US" dirty="0" err="1" smtClean="0"/>
              <a:t>i</a:t>
            </a:r>
            <a:r>
              <a:rPr lang="en-US" dirty="0" smtClean="0"/>
              <a:t>) If reminder remains 1 =&gt; x</a:t>
            </a:r>
            <a:r>
              <a:rPr lang="en-US" baseline="30000" dirty="0" smtClean="0"/>
              <a:t>1</a:t>
            </a:r>
            <a:r>
              <a:rPr lang="en-US" dirty="0" smtClean="0"/>
              <a:t> </a:t>
            </a:r>
            <a:endParaRPr lang="en-US" dirty="0" smtClean="0"/>
          </a:p>
          <a:p>
            <a:r>
              <a:rPr lang="en-US" dirty="0" smtClean="0"/>
              <a:t>(ii) If reminder remains 2 =&gt; x</a:t>
            </a:r>
            <a:r>
              <a:rPr lang="en-US" baseline="30000" dirty="0" smtClean="0"/>
              <a:t>2</a:t>
            </a:r>
            <a:r>
              <a:rPr lang="en-US" dirty="0" smtClean="0"/>
              <a:t> </a:t>
            </a:r>
            <a:endParaRPr lang="en-US" dirty="0" smtClean="0"/>
          </a:p>
          <a:p>
            <a:r>
              <a:rPr lang="en-US" dirty="0" smtClean="0"/>
              <a:t>(iii) If reminder remains 3 =&gt; x</a:t>
            </a:r>
            <a:r>
              <a:rPr lang="en-US" baseline="30000" dirty="0" smtClean="0"/>
              <a:t>3</a:t>
            </a:r>
            <a:r>
              <a:rPr lang="en-US" dirty="0" smtClean="0"/>
              <a:t> </a:t>
            </a:r>
            <a:endParaRPr lang="en-US" dirty="0" smtClean="0"/>
          </a:p>
          <a:p>
            <a:r>
              <a:rPr lang="en-US" dirty="0" smtClean="0"/>
              <a:t>(iv) If reminder remains 0 =&gt; x</a:t>
            </a:r>
            <a:r>
              <a:rPr lang="en-US" baseline="30000" dirty="0" smtClean="0"/>
              <a:t>4</a:t>
            </a:r>
            <a:r>
              <a:rPr lang="en-US" dirty="0" smtClean="0"/>
              <a:t> </a:t>
            </a:r>
            <a:endParaRPr lang="en-US" dirty="0" smtClean="0"/>
          </a:p>
          <a:p>
            <a:r>
              <a:rPr lang="en-US" dirty="0" err="1" smtClean="0"/>
              <a:t>e.g</a:t>
            </a:r>
            <a:r>
              <a:rPr lang="en-US" dirty="0" smtClean="0"/>
              <a:t>  1.  (7)</a:t>
            </a:r>
            <a:r>
              <a:rPr lang="en-US" baseline="30000" dirty="0" smtClean="0"/>
              <a:t>165</a:t>
            </a:r>
            <a:r>
              <a:rPr lang="en-US" dirty="0" smtClean="0"/>
              <a:t> =___7                                   [(165/4 = 41.__), Reminder= 1 , so 7</a:t>
            </a:r>
            <a:r>
              <a:rPr lang="en-US" baseline="30000" dirty="0" smtClean="0"/>
              <a:t>1</a:t>
            </a:r>
            <a:r>
              <a:rPr lang="en-US" dirty="0" smtClean="0"/>
              <a:t> = 7)</a:t>
            </a:r>
            <a:endParaRPr lang="en-US" dirty="0" smtClean="0"/>
          </a:p>
          <a:p>
            <a:r>
              <a:rPr lang="en-US" dirty="0" smtClean="0"/>
              <a:t>2. (3)</a:t>
            </a:r>
            <a:r>
              <a:rPr lang="en-US" baseline="30000" dirty="0" smtClean="0"/>
              <a:t>108</a:t>
            </a:r>
            <a:r>
              <a:rPr lang="en-US" dirty="0" smtClean="0"/>
              <a:t> = ____1</a:t>
            </a:r>
            <a:endParaRPr lang="en-US" dirty="0" smtClean="0"/>
          </a:p>
          <a:p>
            <a:r>
              <a:rPr lang="en-US" dirty="0" smtClean="0"/>
              <a:t>3. (65)</a:t>
            </a:r>
            <a:r>
              <a:rPr lang="en-US" baseline="30000" dirty="0" smtClean="0"/>
              <a:t>135</a:t>
            </a:r>
            <a:r>
              <a:rPr lang="en-US" dirty="0" smtClean="0"/>
              <a:t> * (2)</a:t>
            </a:r>
            <a:r>
              <a:rPr lang="en-US" baseline="30000" dirty="0" smtClean="0"/>
              <a:t>868</a:t>
            </a:r>
            <a:r>
              <a:rPr lang="en-US" dirty="0" smtClean="0"/>
              <a:t> </a:t>
            </a:r>
            <a:r>
              <a:rPr lang="en-US" smtClean="0"/>
              <a:t>= ___5* </a:t>
            </a:r>
            <a:r>
              <a:rPr lang="en-US" dirty="0" smtClean="0"/>
              <a:t>___6</a:t>
            </a:r>
            <a:r>
              <a:rPr lang="en-US" smtClean="0"/>
              <a:t>= ____0</a:t>
            </a:r>
            <a:endParaRPr lang="en-US" dirty="0" smtClean="0"/>
          </a:p>
          <a:p>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 Unit digit concept for (2,8)</a:t>
            </a:r>
            <a:endParaRPr lang="en-US" dirty="0"/>
          </a:p>
        </p:txBody>
      </p:sp>
      <p:sp>
        <p:nvSpPr>
          <p:cNvPr id="3" name="Content Placeholder 2"/>
          <p:cNvSpPr>
            <a:spLocks noGrp="1"/>
          </p:cNvSpPr>
          <p:nvPr>
            <p:ph idx="1"/>
          </p:nvPr>
        </p:nvSpPr>
        <p:spPr/>
        <p:txBody>
          <a:bodyPr/>
          <a:lstStyle/>
          <a:p>
            <a:pPr>
              <a:buNone/>
            </a:pPr>
            <a:r>
              <a:rPr lang="en-US" dirty="0" smtClean="0"/>
              <a:t>For 8</a:t>
            </a:r>
            <a:endParaRPr lang="en-US" dirty="0" smtClean="0"/>
          </a:p>
          <a:p>
            <a:pPr>
              <a:buNone/>
            </a:pPr>
            <a:r>
              <a:rPr lang="en-US" dirty="0" smtClean="0"/>
              <a:t>8,4,2,6 pattern </a:t>
            </a:r>
            <a:r>
              <a:rPr lang="en-US" smtClean="0"/>
              <a:t>repetative</a:t>
            </a:r>
            <a:endParaRPr lang="en-US" dirty="0" smtClean="0"/>
          </a:p>
          <a:p>
            <a:pPr>
              <a:buNone/>
            </a:pPr>
            <a:endParaRPr lang="en-US" dirty="0" smtClean="0"/>
          </a:p>
          <a:p>
            <a:pPr>
              <a:buNone/>
            </a:pPr>
            <a:r>
              <a:rPr lang="en-US" dirty="0" smtClean="0"/>
              <a:t>For 2</a:t>
            </a:r>
            <a:endParaRPr lang="en-US" dirty="0" smtClean="0"/>
          </a:p>
          <a:p>
            <a:pPr>
              <a:buNone/>
            </a:pPr>
            <a:r>
              <a:rPr lang="en-US" dirty="0" smtClean="0"/>
              <a:t>2,4,8,6 pattern </a:t>
            </a:r>
            <a:r>
              <a:rPr lang="en-US" dirty="0" err="1" smtClean="0"/>
              <a:t>repetative</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 questions</a:t>
            </a:r>
            <a:endParaRPr lang="en-US" dirty="0"/>
          </a:p>
        </p:txBody>
      </p:sp>
      <p:sp>
        <p:nvSpPr>
          <p:cNvPr id="3" name="Content Placeholder 2"/>
          <p:cNvSpPr>
            <a:spLocks noGrp="1"/>
          </p:cNvSpPr>
          <p:nvPr>
            <p:ph idx="1"/>
          </p:nvPr>
        </p:nvSpPr>
        <p:spPr/>
        <p:txBody>
          <a:bodyPr/>
          <a:lstStyle/>
          <a:p>
            <a:r>
              <a:rPr lang="en-US" dirty="0" smtClean="0"/>
              <a:t>(1) 3</a:t>
            </a:r>
            <a:r>
              <a:rPr lang="en-US" baseline="30000" dirty="0" smtClean="0"/>
              <a:t>37</a:t>
            </a:r>
            <a:r>
              <a:rPr lang="en-US" dirty="0" smtClean="0"/>
              <a:t>+ 3</a:t>
            </a:r>
            <a:r>
              <a:rPr lang="en-US" baseline="30000" dirty="0" smtClean="0"/>
              <a:t>38</a:t>
            </a:r>
            <a:r>
              <a:rPr lang="en-US" dirty="0" smtClean="0"/>
              <a:t> +3</a:t>
            </a:r>
            <a:r>
              <a:rPr lang="en-US" baseline="30000" dirty="0" smtClean="0"/>
              <a:t>39</a:t>
            </a:r>
            <a:r>
              <a:rPr lang="en-US" dirty="0" smtClean="0"/>
              <a:t> + 3</a:t>
            </a:r>
            <a:r>
              <a:rPr lang="en-US" baseline="30000" dirty="0" smtClean="0"/>
              <a:t>40 </a:t>
            </a:r>
            <a:r>
              <a:rPr lang="en-US" dirty="0" smtClean="0"/>
              <a:t> = __3 + __9+ __27+___81 = ____0</a:t>
            </a:r>
            <a:endParaRPr lang="en-US" dirty="0" smtClean="0"/>
          </a:p>
          <a:p>
            <a:r>
              <a:rPr lang="en-US" dirty="0" smtClean="0"/>
              <a:t>(2) 2</a:t>
            </a:r>
            <a:r>
              <a:rPr lang="en-US" baseline="30000" dirty="0" smtClean="0"/>
              <a:t>71</a:t>
            </a:r>
            <a:r>
              <a:rPr lang="en-US" dirty="0" smtClean="0"/>
              <a:t> + 2</a:t>
            </a:r>
            <a:r>
              <a:rPr lang="en-US" baseline="30000" dirty="0" smtClean="0"/>
              <a:t>72</a:t>
            </a:r>
            <a:r>
              <a:rPr lang="en-US" dirty="0" smtClean="0"/>
              <a:t> + 2</a:t>
            </a:r>
            <a:r>
              <a:rPr lang="en-US" baseline="30000" dirty="0" smtClean="0"/>
              <a:t>73</a:t>
            </a:r>
            <a:r>
              <a:rPr lang="en-US" dirty="0" smtClean="0"/>
              <a:t> + 2</a:t>
            </a:r>
            <a:r>
              <a:rPr lang="en-US" baseline="30000" dirty="0" smtClean="0"/>
              <a:t>74</a:t>
            </a:r>
            <a:r>
              <a:rPr lang="en-US" dirty="0" smtClean="0"/>
              <a:t> =</a:t>
            </a:r>
            <a:endParaRPr lang="en-US" dirty="0" smtClean="0"/>
          </a:p>
          <a:p>
            <a:r>
              <a:rPr lang="en-US" dirty="0" smtClean="0"/>
              <a:t>(3) (7</a:t>
            </a:r>
            <a:r>
              <a:rPr lang="en-US" baseline="30000" dirty="0" smtClean="0"/>
              <a:t>85</a:t>
            </a:r>
            <a:r>
              <a:rPr lang="en-US" dirty="0" smtClean="0"/>
              <a:t> - 4</a:t>
            </a:r>
            <a:r>
              <a:rPr lang="en-US" baseline="30000" dirty="0" smtClean="0"/>
              <a:t>18 ) </a:t>
            </a:r>
            <a:r>
              <a:rPr lang="en-US" dirty="0" smtClean="0"/>
              <a:t>=   </a:t>
            </a:r>
            <a:endParaRPr lang="en-US" dirty="0" smtClean="0"/>
          </a:p>
          <a:p>
            <a:r>
              <a:rPr lang="en-US" dirty="0" smtClean="0"/>
              <a:t>(4) (7</a:t>
            </a:r>
            <a:r>
              <a:rPr lang="en-US" baseline="30000" dirty="0" smtClean="0"/>
              <a:t>5</a:t>
            </a:r>
            <a:r>
              <a:rPr lang="en-US" dirty="0" smtClean="0"/>
              <a:t> -5</a:t>
            </a:r>
            <a:r>
              <a:rPr lang="en-US" baseline="30000" dirty="0" smtClean="0"/>
              <a:t>3</a:t>
            </a:r>
            <a:r>
              <a:rPr lang="en-US" dirty="0" smtClean="0"/>
              <a:t>- 4</a:t>
            </a:r>
            <a:r>
              <a:rPr lang="en-US" baseline="30000" dirty="0" smtClean="0"/>
              <a:t>2 </a:t>
            </a:r>
            <a:r>
              <a:rPr lang="en-US" dirty="0" smtClean="0"/>
              <a:t>)= __7 - __5 - __6 = __6 =16666</a:t>
            </a:r>
            <a:endParaRPr lang="en-US" dirty="0" smtClean="0"/>
          </a:p>
          <a:p>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Number of prime factors (SC trick)</a:t>
            </a:r>
            <a:br>
              <a:rPr lang="en-US" dirty="0" smtClean="0"/>
            </a:b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Simple rule for finding no. of prime factors is make smallest factor segments of given digit and then edit the final powers.</a:t>
            </a:r>
            <a:endParaRPr lang="en-US" dirty="0" smtClean="0"/>
          </a:p>
          <a:p>
            <a:pPr>
              <a:buNone/>
            </a:pPr>
            <a:r>
              <a:rPr lang="en-US" b="1" dirty="0" err="1" smtClean="0"/>
              <a:t>e.g</a:t>
            </a:r>
            <a:r>
              <a:rPr lang="en-US" b="1" dirty="0" smtClean="0"/>
              <a:t> 1. (35)</a:t>
            </a:r>
            <a:r>
              <a:rPr lang="en-US" b="1" baseline="30000" dirty="0" smtClean="0"/>
              <a:t>12</a:t>
            </a:r>
            <a:r>
              <a:rPr lang="en-US" b="1" dirty="0" smtClean="0"/>
              <a:t> * (25)</a:t>
            </a:r>
            <a:r>
              <a:rPr lang="en-US" b="1" baseline="30000" dirty="0" smtClean="0"/>
              <a:t>12</a:t>
            </a:r>
            <a:r>
              <a:rPr lang="en-US" b="1" dirty="0" smtClean="0"/>
              <a:t> * (14)</a:t>
            </a:r>
            <a:r>
              <a:rPr lang="en-US" b="1" baseline="30000" dirty="0" smtClean="0"/>
              <a:t>4</a:t>
            </a:r>
            <a:endParaRPr lang="en-US" b="1" dirty="0" smtClean="0"/>
          </a:p>
          <a:p>
            <a:r>
              <a:rPr lang="en-US" dirty="0" smtClean="0"/>
              <a:t>= (7*5)</a:t>
            </a:r>
            <a:r>
              <a:rPr lang="en-US" baseline="30000" dirty="0" smtClean="0"/>
              <a:t>12</a:t>
            </a:r>
            <a:r>
              <a:rPr lang="en-US" dirty="0" smtClean="0"/>
              <a:t> * (5</a:t>
            </a:r>
            <a:r>
              <a:rPr lang="en-US" baseline="30000" dirty="0" smtClean="0"/>
              <a:t>2</a:t>
            </a:r>
            <a:r>
              <a:rPr lang="en-US" dirty="0" smtClean="0"/>
              <a:t>)</a:t>
            </a:r>
            <a:r>
              <a:rPr lang="en-US" baseline="30000" dirty="0" smtClean="0"/>
              <a:t>12 </a:t>
            </a:r>
            <a:r>
              <a:rPr lang="en-US" dirty="0" smtClean="0"/>
              <a:t>*(7*2)</a:t>
            </a:r>
            <a:r>
              <a:rPr lang="en-US" baseline="30000" dirty="0" smtClean="0"/>
              <a:t>4</a:t>
            </a:r>
            <a:endParaRPr lang="en-US" dirty="0" smtClean="0"/>
          </a:p>
          <a:p>
            <a:r>
              <a:rPr lang="en-US" dirty="0" smtClean="0"/>
              <a:t>= (2)</a:t>
            </a:r>
            <a:r>
              <a:rPr lang="en-US" baseline="30000" dirty="0" smtClean="0"/>
              <a:t>4</a:t>
            </a:r>
            <a:r>
              <a:rPr lang="en-US" dirty="0" smtClean="0"/>
              <a:t> * (5)</a:t>
            </a:r>
            <a:r>
              <a:rPr lang="en-US" baseline="30000" dirty="0" smtClean="0"/>
              <a:t>36</a:t>
            </a:r>
            <a:r>
              <a:rPr lang="en-US" dirty="0" smtClean="0"/>
              <a:t> * (7)</a:t>
            </a:r>
            <a:r>
              <a:rPr lang="en-US" baseline="30000" dirty="0" smtClean="0"/>
              <a:t>16</a:t>
            </a:r>
            <a:endParaRPr lang="en-US" dirty="0" smtClean="0"/>
          </a:p>
          <a:p>
            <a:r>
              <a:rPr lang="en-US" dirty="0" smtClean="0"/>
              <a:t>Addition of power = 4+36+16 = 56 </a:t>
            </a:r>
            <a:endParaRPr lang="en-US" dirty="0" smtClean="0"/>
          </a:p>
          <a:p>
            <a:endParaRPr lang="en-US" dirty="0" smtClean="0"/>
          </a:p>
          <a:p>
            <a:pPr>
              <a:buNone/>
            </a:pPr>
            <a:r>
              <a:rPr lang="en-US" b="1" dirty="0" err="1" smtClean="0"/>
              <a:t>e.g</a:t>
            </a:r>
            <a:r>
              <a:rPr lang="en-US" b="1" dirty="0" smtClean="0"/>
              <a:t> 2. (7</a:t>
            </a:r>
            <a:r>
              <a:rPr lang="en-US" b="1" baseline="30000" dirty="0" smtClean="0"/>
              <a:t>10</a:t>
            </a:r>
            <a:r>
              <a:rPr lang="en-US" b="1" dirty="0" smtClean="0"/>
              <a:t>)</a:t>
            </a:r>
            <a:r>
              <a:rPr lang="en-US" b="1" baseline="30000" dirty="0" smtClean="0"/>
              <a:t>2</a:t>
            </a:r>
            <a:r>
              <a:rPr lang="en-US" b="1" dirty="0" smtClean="0"/>
              <a:t> * (91)</a:t>
            </a:r>
            <a:r>
              <a:rPr lang="en-US" b="1" baseline="30000" dirty="0" smtClean="0"/>
              <a:t>4</a:t>
            </a:r>
            <a:r>
              <a:rPr lang="en-US" b="1" dirty="0" smtClean="0"/>
              <a:t> = (7)</a:t>
            </a:r>
            <a:r>
              <a:rPr lang="en-US" b="1" baseline="30000" dirty="0" smtClean="0"/>
              <a:t>20</a:t>
            </a:r>
            <a:r>
              <a:rPr lang="en-US" b="1" dirty="0" smtClean="0"/>
              <a:t> * (13*7)</a:t>
            </a:r>
            <a:r>
              <a:rPr lang="en-US" b="1" baseline="30000" dirty="0" smtClean="0"/>
              <a:t>4 </a:t>
            </a:r>
            <a:endParaRPr lang="en-US" dirty="0" smtClean="0"/>
          </a:p>
          <a:p>
            <a:pPr>
              <a:buNone/>
            </a:pPr>
            <a:r>
              <a:rPr lang="en-US" dirty="0" smtClean="0"/>
              <a:t>                                  = (7)</a:t>
            </a:r>
            <a:r>
              <a:rPr lang="en-US" baseline="30000" dirty="0" smtClean="0"/>
              <a:t>24</a:t>
            </a:r>
            <a:r>
              <a:rPr lang="en-US" dirty="0" smtClean="0"/>
              <a:t> * (13)</a:t>
            </a:r>
            <a:r>
              <a:rPr lang="en-US" baseline="30000" dirty="0" smtClean="0"/>
              <a:t>4</a:t>
            </a:r>
            <a:endParaRPr lang="en-US" dirty="0" smtClean="0"/>
          </a:p>
          <a:p>
            <a:r>
              <a:rPr lang="en-US" dirty="0" smtClean="0"/>
              <a:t>Addition of power = 24+4 = 28 </a:t>
            </a:r>
            <a:endParaRPr lang="en-US" dirty="0" smtClean="0"/>
          </a:p>
          <a:p>
            <a:pPr>
              <a:buNone/>
            </a:pPr>
            <a:r>
              <a:rPr lang="en-US" dirty="0" smtClean="0"/>
              <a:t> </a:t>
            </a:r>
            <a:endParaRPr lang="en-US" dirty="0" smtClean="0"/>
          </a:p>
          <a:p>
            <a:pPr>
              <a:buNone/>
            </a:pPr>
            <a:r>
              <a:rPr lang="en-US" b="1" dirty="0" smtClean="0"/>
              <a:t>Practice Questions </a:t>
            </a:r>
            <a:endParaRPr lang="en-US" dirty="0" smtClean="0"/>
          </a:p>
          <a:p>
            <a:r>
              <a:rPr lang="en-US" dirty="0" smtClean="0"/>
              <a:t>1) (7)</a:t>
            </a:r>
            <a:r>
              <a:rPr lang="en-US" baseline="30000" dirty="0" smtClean="0"/>
              <a:t>19</a:t>
            </a:r>
            <a:r>
              <a:rPr lang="en-US" dirty="0" smtClean="0"/>
              <a:t> * (23)</a:t>
            </a:r>
            <a:r>
              <a:rPr lang="en-US" baseline="30000" dirty="0" smtClean="0"/>
              <a:t>3</a:t>
            </a:r>
            <a:r>
              <a:rPr lang="en-US" dirty="0" smtClean="0"/>
              <a:t> * (36)</a:t>
            </a:r>
            <a:r>
              <a:rPr lang="en-US" baseline="30000" dirty="0" smtClean="0"/>
              <a:t>4</a:t>
            </a:r>
            <a:r>
              <a:rPr lang="en-US" dirty="0" smtClean="0"/>
              <a:t> = </a:t>
            </a:r>
            <a:endParaRPr lang="en-US" dirty="0" smtClean="0"/>
          </a:p>
          <a:p>
            <a:r>
              <a:rPr lang="en-US" dirty="0" smtClean="0"/>
              <a:t>2) (116)</a:t>
            </a:r>
            <a:r>
              <a:rPr lang="en-US" baseline="30000" dirty="0" smtClean="0"/>
              <a:t>4</a:t>
            </a:r>
            <a:r>
              <a:rPr lang="en-US" dirty="0" smtClean="0"/>
              <a:t> * (112)</a:t>
            </a:r>
            <a:r>
              <a:rPr lang="en-US" baseline="30000" dirty="0" smtClean="0"/>
              <a:t>9</a:t>
            </a:r>
            <a:r>
              <a:rPr lang="en-US" dirty="0" smtClean="0"/>
              <a:t> * (1)</a:t>
            </a:r>
            <a:r>
              <a:rPr lang="en-US" baseline="30000" dirty="0" smtClean="0"/>
              <a:t>7 </a:t>
            </a:r>
            <a:r>
              <a:rPr lang="en-US" dirty="0" smtClean="0"/>
              <a:t> =</a:t>
            </a:r>
            <a:endParaRPr lang="en-US" dirty="0" smtClean="0"/>
          </a:p>
          <a:p>
            <a:r>
              <a:rPr lang="en-US" dirty="0" smtClean="0"/>
              <a:t>3) 4</a:t>
            </a:r>
            <a:r>
              <a:rPr lang="en-US" baseline="30000" dirty="0" smtClean="0"/>
              <a:t>10 </a:t>
            </a:r>
            <a:r>
              <a:rPr lang="en-US" dirty="0" smtClean="0"/>
              <a:t>* 7</a:t>
            </a:r>
            <a:r>
              <a:rPr lang="en-US" baseline="30000" dirty="0" smtClean="0"/>
              <a:t>3</a:t>
            </a:r>
            <a:r>
              <a:rPr lang="en-US" dirty="0" smtClean="0"/>
              <a:t> * 16</a:t>
            </a:r>
            <a:r>
              <a:rPr lang="en-US" baseline="30000" dirty="0" smtClean="0"/>
              <a:t>2</a:t>
            </a:r>
            <a:r>
              <a:rPr lang="en-US" dirty="0" smtClean="0"/>
              <a:t> * 11 * 5</a:t>
            </a:r>
            <a:r>
              <a:rPr lang="en-US" baseline="30000" dirty="0" smtClean="0"/>
              <a:t>2 </a:t>
            </a:r>
            <a:r>
              <a:rPr lang="en-US" dirty="0" smtClean="0"/>
              <a:t> =</a:t>
            </a:r>
            <a:endParaRPr lang="en-US" dirty="0" smtClean="0"/>
          </a:p>
          <a:p>
            <a:pPr>
              <a:buNone/>
            </a:pPr>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smtClean="0"/>
              <a:t>Total Number of factors (SC trick)</a:t>
            </a:r>
            <a:br>
              <a:rPr lang="en-US" dirty="0" smtClean="0"/>
            </a:b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N - number of factors (smallest prime factors) </a:t>
            </a:r>
            <a:endParaRPr lang="en-US" dirty="0" smtClean="0"/>
          </a:p>
          <a:p>
            <a:r>
              <a:rPr lang="en-US" dirty="0" smtClean="0"/>
              <a:t>Main term = a</a:t>
            </a:r>
            <a:r>
              <a:rPr lang="en-US" baseline="30000" dirty="0" smtClean="0"/>
              <a:t>m</a:t>
            </a:r>
            <a:r>
              <a:rPr lang="en-US" dirty="0" smtClean="0"/>
              <a:t> * </a:t>
            </a:r>
            <a:r>
              <a:rPr lang="en-US" dirty="0" err="1" smtClean="0"/>
              <a:t>b</a:t>
            </a:r>
            <a:r>
              <a:rPr lang="en-US" baseline="30000" dirty="0" err="1" smtClean="0"/>
              <a:t>n</a:t>
            </a:r>
            <a:r>
              <a:rPr lang="en-US" baseline="30000" dirty="0" smtClean="0"/>
              <a:t> </a:t>
            </a:r>
            <a:r>
              <a:rPr lang="en-US" dirty="0" smtClean="0"/>
              <a:t>* c</a:t>
            </a:r>
            <a:r>
              <a:rPr lang="en-US" baseline="30000" dirty="0" smtClean="0"/>
              <a:t>p</a:t>
            </a:r>
            <a:endParaRPr lang="en-US" dirty="0" smtClean="0"/>
          </a:p>
          <a:p>
            <a:r>
              <a:rPr lang="en-US" dirty="0" err="1" smtClean="0"/>
              <a:t>a,b,c</a:t>
            </a:r>
            <a:r>
              <a:rPr lang="en-US" dirty="0" smtClean="0"/>
              <a:t> --&gt; Prime numbers</a:t>
            </a:r>
            <a:endParaRPr lang="en-US" dirty="0" smtClean="0"/>
          </a:p>
          <a:p>
            <a:r>
              <a:rPr lang="en-US" dirty="0" err="1" smtClean="0"/>
              <a:t>m,n,p</a:t>
            </a:r>
            <a:r>
              <a:rPr lang="en-US" dirty="0" smtClean="0"/>
              <a:t> --&gt; power </a:t>
            </a:r>
            <a:endParaRPr lang="en-US" dirty="0" smtClean="0"/>
          </a:p>
          <a:p>
            <a:r>
              <a:rPr lang="en-US" b="1" dirty="0" smtClean="0"/>
              <a:t>Formula = (1+m) (1+n) (1+p)</a:t>
            </a:r>
            <a:endParaRPr lang="en-US" dirty="0" smtClean="0"/>
          </a:p>
          <a:p>
            <a:r>
              <a:rPr lang="en-US" dirty="0" err="1" smtClean="0"/>
              <a:t>e.g</a:t>
            </a:r>
            <a:r>
              <a:rPr lang="en-US" dirty="0" smtClean="0"/>
              <a:t> 1 N = 120</a:t>
            </a:r>
            <a:endParaRPr lang="en-US" dirty="0" smtClean="0"/>
          </a:p>
          <a:p>
            <a:r>
              <a:rPr lang="en-US" dirty="0" smtClean="0"/>
              <a:t>smallest prime factors 2*2*2*3*5 = 2</a:t>
            </a:r>
            <a:r>
              <a:rPr lang="en-US" baseline="30000" dirty="0" smtClean="0"/>
              <a:t>3</a:t>
            </a:r>
            <a:r>
              <a:rPr lang="en-US" dirty="0" smtClean="0"/>
              <a:t> * 3</a:t>
            </a:r>
            <a:r>
              <a:rPr lang="en-US" baseline="30000" dirty="0" smtClean="0"/>
              <a:t>1</a:t>
            </a:r>
            <a:r>
              <a:rPr lang="en-US" dirty="0" smtClean="0"/>
              <a:t> *5</a:t>
            </a:r>
            <a:r>
              <a:rPr lang="en-US" baseline="30000" dirty="0" smtClean="0"/>
              <a:t>1</a:t>
            </a:r>
            <a:endParaRPr lang="en-US" dirty="0" smtClean="0"/>
          </a:p>
          <a:p>
            <a:r>
              <a:rPr lang="en-US" b="1" dirty="0" smtClean="0"/>
              <a:t>Formula = (1+m) (1+n) (1+p) = (1+3)(1+1)(1+1) = 16</a:t>
            </a:r>
            <a:endParaRPr lang="en-US" dirty="0" smtClean="0"/>
          </a:p>
          <a:p>
            <a:r>
              <a:rPr lang="en-US" b="1" dirty="0" smtClean="0"/>
              <a:t> </a:t>
            </a:r>
            <a:endParaRPr lang="en-US" dirty="0" smtClean="0"/>
          </a:p>
          <a:p>
            <a:r>
              <a:rPr lang="en-US" dirty="0" err="1" smtClean="0"/>
              <a:t>e.g</a:t>
            </a:r>
            <a:r>
              <a:rPr lang="en-US" dirty="0" smtClean="0"/>
              <a:t> 2 N = 1420</a:t>
            </a:r>
            <a:endParaRPr lang="en-US" dirty="0" smtClean="0"/>
          </a:p>
          <a:p>
            <a:r>
              <a:rPr lang="en-US" dirty="0" smtClean="0"/>
              <a:t>smallest prime factors 2*710 = 2*2*355 = 2</a:t>
            </a:r>
            <a:r>
              <a:rPr lang="en-US" baseline="30000" dirty="0" smtClean="0"/>
              <a:t>2</a:t>
            </a:r>
            <a:r>
              <a:rPr lang="en-US" dirty="0" smtClean="0"/>
              <a:t>*5*71</a:t>
            </a:r>
            <a:endParaRPr lang="en-US" dirty="0" smtClean="0"/>
          </a:p>
          <a:p>
            <a:r>
              <a:rPr lang="en-US" b="1" dirty="0" smtClean="0"/>
              <a:t>Formula = (1+m) (1+n) (1+p) = (1+2)(1+1)(1+1) = 12</a:t>
            </a:r>
            <a:endParaRPr lang="en-US" dirty="0" smtClean="0"/>
          </a:p>
          <a:p>
            <a:r>
              <a:rPr lang="en-US" dirty="0" smtClean="0"/>
              <a:t> </a:t>
            </a:r>
            <a:endParaRPr lang="en-US" dirty="0" smtClean="0"/>
          </a:p>
          <a:p>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Divisibility Rules</a:t>
            </a:r>
            <a:br>
              <a:rPr lang="en-US" dirty="0" smtClean="0"/>
            </a:br>
            <a:endParaRPr lang="en-US" dirty="0"/>
          </a:p>
        </p:txBody>
      </p:sp>
      <p:sp>
        <p:nvSpPr>
          <p:cNvPr id="3" name="Content Placeholder 2"/>
          <p:cNvSpPr>
            <a:spLocks noGrp="1"/>
          </p:cNvSpPr>
          <p:nvPr>
            <p:ph idx="1"/>
          </p:nvPr>
        </p:nvSpPr>
        <p:spPr/>
        <p:txBody>
          <a:bodyPr>
            <a:normAutofit fontScale="77500" lnSpcReduction="20000"/>
          </a:bodyPr>
          <a:lstStyle/>
          <a:p>
            <a:r>
              <a:rPr lang="en-US" b="1" dirty="0" smtClean="0"/>
              <a:t>(1) Rule for digit 2 </a:t>
            </a:r>
            <a:r>
              <a:rPr lang="en-US" b="1" dirty="0" smtClean="0">
                <a:sym typeface="Wingdings" panose="05000000000000000000"/>
              </a:rPr>
              <a:t></a:t>
            </a:r>
            <a:r>
              <a:rPr lang="en-US" b="1" dirty="0" smtClean="0"/>
              <a:t>  2,4,6,8,0 </a:t>
            </a:r>
            <a:r>
              <a:rPr lang="en-US" b="1" dirty="0" smtClean="0">
                <a:sym typeface="Wingdings" panose="05000000000000000000"/>
              </a:rPr>
              <a:t></a:t>
            </a:r>
            <a:r>
              <a:rPr lang="en-US" b="1" dirty="0" smtClean="0"/>
              <a:t> divisible</a:t>
            </a:r>
            <a:endParaRPr lang="en-US" dirty="0" smtClean="0"/>
          </a:p>
          <a:p>
            <a:r>
              <a:rPr lang="en-US" b="1" dirty="0" smtClean="0"/>
              <a:t>(2) Rule for digit 3 </a:t>
            </a:r>
            <a:r>
              <a:rPr lang="en-US" b="1" dirty="0" smtClean="0">
                <a:sym typeface="Wingdings" panose="05000000000000000000"/>
              </a:rPr>
              <a:t></a:t>
            </a:r>
            <a:r>
              <a:rPr lang="en-US" b="1" dirty="0" smtClean="0"/>
              <a:t> Sum of digit is unit digit</a:t>
            </a:r>
            <a:endParaRPr lang="en-US" dirty="0" smtClean="0"/>
          </a:p>
          <a:p>
            <a:r>
              <a:rPr lang="en-US" dirty="0" err="1" smtClean="0"/>
              <a:t>e.g</a:t>
            </a:r>
            <a:r>
              <a:rPr lang="en-US" dirty="0" smtClean="0"/>
              <a:t>  1. 789 = 7+8+9 = 24 /3 =8</a:t>
            </a:r>
            <a:endParaRPr lang="en-US" dirty="0" smtClean="0"/>
          </a:p>
          <a:p>
            <a:r>
              <a:rPr lang="en-US" dirty="0" smtClean="0"/>
              <a:t>2. 8971 = 8+9+7+1 =25/3 </a:t>
            </a:r>
            <a:r>
              <a:rPr lang="en-US" dirty="0" smtClean="0">
                <a:sym typeface="Wingdings" panose="05000000000000000000"/>
              </a:rPr>
              <a:t></a:t>
            </a:r>
            <a:r>
              <a:rPr lang="en-US" dirty="0" smtClean="0"/>
              <a:t> not divisible </a:t>
            </a:r>
            <a:endParaRPr lang="en-US" dirty="0" smtClean="0"/>
          </a:p>
          <a:p>
            <a:r>
              <a:rPr lang="en-US" dirty="0" smtClean="0"/>
              <a:t>3. 78123 = 7+8+1+2+3 = 21/3 = 7 </a:t>
            </a:r>
            <a:endParaRPr lang="en-US" dirty="0" smtClean="0"/>
          </a:p>
          <a:p>
            <a:r>
              <a:rPr lang="en-US" b="1" dirty="0" smtClean="0"/>
              <a:t>(3) Rule for digit 4 </a:t>
            </a:r>
            <a:r>
              <a:rPr lang="en-US" b="1" dirty="0" smtClean="0">
                <a:sym typeface="Wingdings" panose="05000000000000000000"/>
              </a:rPr>
              <a:t></a:t>
            </a:r>
            <a:r>
              <a:rPr lang="en-US" b="1" dirty="0" smtClean="0"/>
              <a:t> Last 2 digits should be divisible by 4</a:t>
            </a:r>
            <a:endParaRPr lang="en-US" dirty="0" smtClean="0"/>
          </a:p>
          <a:p>
            <a:r>
              <a:rPr lang="en-US" dirty="0" smtClean="0"/>
              <a:t>1. 5678</a:t>
            </a:r>
            <a:r>
              <a:rPr lang="en-US" dirty="0" smtClean="0">
                <a:sym typeface="Wingdings" panose="05000000000000000000"/>
              </a:rPr>
              <a:t></a:t>
            </a:r>
            <a:r>
              <a:rPr lang="en-US" dirty="0" smtClean="0"/>
              <a:t> no </a:t>
            </a:r>
            <a:endParaRPr lang="en-US" dirty="0" smtClean="0"/>
          </a:p>
          <a:p>
            <a:r>
              <a:rPr lang="en-US" dirty="0" smtClean="0"/>
              <a:t>2. 4308 </a:t>
            </a:r>
            <a:r>
              <a:rPr lang="en-US" dirty="0" smtClean="0">
                <a:sym typeface="Wingdings" panose="05000000000000000000"/>
              </a:rPr>
              <a:t></a:t>
            </a:r>
            <a:r>
              <a:rPr lang="en-US" dirty="0" smtClean="0"/>
              <a:t> yes</a:t>
            </a:r>
            <a:endParaRPr lang="en-US" dirty="0" smtClean="0"/>
          </a:p>
          <a:p>
            <a:r>
              <a:rPr lang="en-US" dirty="0" smtClean="0"/>
              <a:t>3. 97652 </a:t>
            </a:r>
            <a:r>
              <a:rPr lang="en-US" dirty="0" smtClean="0">
                <a:sym typeface="Wingdings" panose="05000000000000000000"/>
              </a:rPr>
              <a:t></a:t>
            </a:r>
            <a:r>
              <a:rPr lang="en-US" dirty="0" smtClean="0"/>
              <a:t> yes</a:t>
            </a:r>
            <a:endParaRPr lang="en-US" dirty="0" smtClean="0"/>
          </a:p>
          <a:p>
            <a:r>
              <a:rPr lang="en-US" b="1" dirty="0" smtClean="0"/>
              <a:t>(4) Rule for digit 5 </a:t>
            </a:r>
            <a:r>
              <a:rPr lang="en-US" b="1" dirty="0" smtClean="0">
                <a:sym typeface="Wingdings" panose="05000000000000000000"/>
              </a:rPr>
              <a:t></a:t>
            </a:r>
            <a:r>
              <a:rPr lang="en-US" b="1" dirty="0" smtClean="0"/>
              <a:t> odd no then first digit 5, even no then first digit 0</a:t>
            </a:r>
            <a:endParaRPr lang="en-US" dirty="0" smtClean="0"/>
          </a:p>
          <a:p>
            <a:r>
              <a:rPr lang="en-US" dirty="0" smtClean="0"/>
              <a:t>(</a:t>
            </a:r>
            <a:r>
              <a:rPr lang="en-US" b="1" dirty="0" smtClean="0"/>
              <a:t>5) Rule for digit 6 </a:t>
            </a:r>
            <a:r>
              <a:rPr lang="en-US" b="1" dirty="0" smtClean="0">
                <a:sym typeface="Wingdings" panose="05000000000000000000"/>
              </a:rPr>
              <a:t></a:t>
            </a:r>
            <a:r>
              <a:rPr lang="en-US" b="1" dirty="0" smtClean="0"/>
              <a:t> If divisible with 2 and 3 (combined) then divisible</a:t>
            </a:r>
            <a:endParaRPr lang="en-US" dirty="0" smtClean="0"/>
          </a:p>
          <a:p>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Divisibility Rules</a:t>
            </a:r>
            <a:endParaRPr lang="en-US" dirty="0"/>
          </a:p>
        </p:txBody>
      </p:sp>
      <p:sp>
        <p:nvSpPr>
          <p:cNvPr id="3" name="Content Placeholder 2"/>
          <p:cNvSpPr>
            <a:spLocks noGrp="1"/>
          </p:cNvSpPr>
          <p:nvPr>
            <p:ph idx="1"/>
          </p:nvPr>
        </p:nvSpPr>
        <p:spPr/>
        <p:txBody>
          <a:bodyPr>
            <a:normAutofit fontScale="62500" lnSpcReduction="20000"/>
          </a:bodyPr>
          <a:lstStyle/>
          <a:p>
            <a:pPr>
              <a:buNone/>
            </a:pPr>
            <a:r>
              <a:rPr lang="en-US" b="1" dirty="0" smtClean="0"/>
              <a:t>6) Rule for digit 7 </a:t>
            </a:r>
            <a:r>
              <a:rPr lang="en-US" b="1" dirty="0" smtClean="0">
                <a:sym typeface="Wingdings" panose="05000000000000000000"/>
              </a:rPr>
              <a:t></a:t>
            </a:r>
            <a:r>
              <a:rPr lang="en-US" b="1" dirty="0" smtClean="0"/>
              <a:t> 6.1 If the number is repetitive 6 times then it is divisible with 7</a:t>
            </a:r>
            <a:endParaRPr lang="en-US" dirty="0" smtClean="0"/>
          </a:p>
          <a:p>
            <a:r>
              <a:rPr lang="en-US" dirty="0" err="1" smtClean="0"/>
              <a:t>e.g</a:t>
            </a:r>
            <a:r>
              <a:rPr lang="en-US" dirty="0" smtClean="0"/>
              <a:t> 222222,333333,777777,888888</a:t>
            </a:r>
            <a:endParaRPr lang="en-US" dirty="0" smtClean="0"/>
          </a:p>
          <a:p>
            <a:endParaRPr lang="en-US" dirty="0" smtClean="0"/>
          </a:p>
          <a:p>
            <a:pPr>
              <a:buNone/>
            </a:pPr>
            <a:r>
              <a:rPr lang="en-US" b="1" dirty="0" smtClean="0"/>
              <a:t>6.2  Multiply unit digit with 5 and add the answer with following digit, do it repetitively till you are able to divide it with 7.</a:t>
            </a:r>
            <a:endParaRPr lang="en-US" dirty="0" smtClean="0"/>
          </a:p>
          <a:p>
            <a:r>
              <a:rPr lang="en-US" dirty="0" err="1" smtClean="0"/>
              <a:t>e.g</a:t>
            </a:r>
            <a:r>
              <a:rPr lang="en-US" dirty="0" smtClean="0"/>
              <a:t>  1.3724 </a:t>
            </a:r>
            <a:r>
              <a:rPr lang="en-US" dirty="0" smtClean="0">
                <a:sym typeface="Wingdings" panose="05000000000000000000"/>
              </a:rPr>
              <a:t></a:t>
            </a:r>
            <a:r>
              <a:rPr lang="en-US" dirty="0" smtClean="0"/>
              <a:t> here unit digit is 4 </a:t>
            </a:r>
            <a:r>
              <a:rPr lang="en-US" dirty="0" smtClean="0">
                <a:sym typeface="Wingdings" panose="05000000000000000000"/>
              </a:rPr>
              <a:t></a:t>
            </a:r>
            <a:r>
              <a:rPr lang="en-US" dirty="0" smtClean="0"/>
              <a:t> Multiply it with 5 </a:t>
            </a:r>
            <a:r>
              <a:rPr lang="en-US" dirty="0" smtClean="0">
                <a:sym typeface="Wingdings" panose="05000000000000000000"/>
              </a:rPr>
              <a:t></a:t>
            </a:r>
            <a:r>
              <a:rPr lang="en-US" dirty="0" smtClean="0"/>
              <a:t> 4*5 = 20</a:t>
            </a:r>
            <a:endParaRPr lang="en-US" dirty="0" smtClean="0"/>
          </a:p>
          <a:p>
            <a:r>
              <a:rPr lang="en-US" dirty="0" smtClean="0"/>
              <a:t>372+ 20 = 392</a:t>
            </a:r>
            <a:r>
              <a:rPr lang="en-US" dirty="0" smtClean="0">
                <a:sym typeface="Wingdings" panose="05000000000000000000"/>
              </a:rPr>
              <a:t></a:t>
            </a:r>
            <a:r>
              <a:rPr lang="en-US" dirty="0" smtClean="0"/>
              <a:t> 2*5= 10</a:t>
            </a:r>
            <a:endParaRPr lang="en-US" dirty="0" smtClean="0"/>
          </a:p>
          <a:p>
            <a:r>
              <a:rPr lang="en-US" dirty="0" smtClean="0"/>
              <a:t>39+10= 49/7 =7</a:t>
            </a:r>
            <a:endParaRPr lang="en-US" dirty="0" smtClean="0"/>
          </a:p>
          <a:p>
            <a:r>
              <a:rPr lang="en-US" dirty="0" smtClean="0"/>
              <a:t>2. 89756 </a:t>
            </a:r>
            <a:r>
              <a:rPr lang="en-US" dirty="0" smtClean="0">
                <a:sym typeface="Wingdings" panose="05000000000000000000"/>
              </a:rPr>
              <a:t></a:t>
            </a:r>
            <a:r>
              <a:rPr lang="en-US" dirty="0" smtClean="0"/>
              <a:t> 6*5= 30 =&gt; 8975+30 = 9005</a:t>
            </a:r>
            <a:endParaRPr lang="en-US" dirty="0" smtClean="0"/>
          </a:p>
          <a:p>
            <a:r>
              <a:rPr lang="en-US" dirty="0" smtClean="0"/>
              <a:t>900+25 = 925</a:t>
            </a:r>
            <a:endParaRPr lang="en-US" dirty="0" smtClean="0"/>
          </a:p>
          <a:p>
            <a:r>
              <a:rPr lang="en-US" dirty="0" smtClean="0"/>
              <a:t>92+25 = 117 which is not divisible by 7</a:t>
            </a:r>
            <a:endParaRPr lang="en-US" dirty="0" smtClean="0"/>
          </a:p>
          <a:p>
            <a:endParaRPr lang="en-US" dirty="0" smtClean="0"/>
          </a:p>
          <a:p>
            <a:pPr>
              <a:buNone/>
            </a:pPr>
            <a:r>
              <a:rPr lang="en-US" b="1" dirty="0" smtClean="0"/>
              <a:t>6.3  If 6 digits are there ,you can take difference of first 3 and last 3 ,difference should be divisible with 7.</a:t>
            </a:r>
            <a:endParaRPr lang="en-US" b="1" dirty="0" smtClean="0"/>
          </a:p>
          <a:p>
            <a:r>
              <a:rPr lang="en-US" dirty="0" smtClean="0"/>
              <a:t>1. 573622 = 622-573 =49/7 </a:t>
            </a:r>
            <a:r>
              <a:rPr lang="en-US" dirty="0" smtClean="0">
                <a:sym typeface="Wingdings" panose="05000000000000000000"/>
              </a:rPr>
              <a:t></a:t>
            </a:r>
            <a:r>
              <a:rPr lang="en-US" dirty="0" smtClean="0"/>
              <a:t> divisible by 7</a:t>
            </a:r>
            <a:endParaRPr lang="en-US" dirty="0" smtClean="0"/>
          </a:p>
          <a:p>
            <a:r>
              <a:rPr lang="en-US" dirty="0" smtClean="0"/>
              <a:t>2. 456505= 50-456 =49/7 </a:t>
            </a:r>
            <a:r>
              <a:rPr lang="en-US" dirty="0" smtClean="0">
                <a:sym typeface="Wingdings" panose="05000000000000000000"/>
              </a:rPr>
              <a:t></a:t>
            </a:r>
            <a:r>
              <a:rPr lang="en-US" dirty="0" smtClean="0"/>
              <a:t> divisible by 7</a:t>
            </a:r>
            <a:endParaRPr lang="en-US" dirty="0" smtClean="0"/>
          </a:p>
          <a:p>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Divisibility Rules</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dirty="0" smtClean="0"/>
              <a:t>(7) Rule of digit 8 </a:t>
            </a:r>
            <a:r>
              <a:rPr lang="en-US" b="1" dirty="0" smtClean="0">
                <a:sym typeface="Wingdings" panose="05000000000000000000"/>
              </a:rPr>
              <a:t></a:t>
            </a:r>
            <a:r>
              <a:rPr lang="en-US" b="1" dirty="0" smtClean="0"/>
              <a:t> end 3 digits are divisible with 8 then divisibility is there</a:t>
            </a:r>
            <a:endParaRPr lang="en-US" dirty="0" smtClean="0"/>
          </a:p>
          <a:p>
            <a:r>
              <a:rPr lang="en-US" dirty="0" err="1" smtClean="0"/>
              <a:t>e.g</a:t>
            </a:r>
            <a:r>
              <a:rPr lang="en-US" dirty="0" smtClean="0"/>
              <a:t> 1. 9872, 89888, 77224</a:t>
            </a:r>
            <a:endParaRPr lang="en-US" dirty="0" smtClean="0"/>
          </a:p>
          <a:p>
            <a:pPr>
              <a:buNone/>
            </a:pPr>
            <a:r>
              <a:rPr lang="en-US" b="1" dirty="0" smtClean="0"/>
              <a:t>(8) Rule of digit 9 </a:t>
            </a:r>
            <a:r>
              <a:rPr lang="en-US" b="1" dirty="0" smtClean="0">
                <a:sym typeface="Wingdings" panose="05000000000000000000"/>
              </a:rPr>
              <a:t></a:t>
            </a:r>
            <a:r>
              <a:rPr lang="en-US" b="1" dirty="0" smtClean="0"/>
              <a:t> Sum of digits should be divisible with 9</a:t>
            </a:r>
            <a:endParaRPr lang="en-US" dirty="0" smtClean="0"/>
          </a:p>
          <a:p>
            <a:r>
              <a:rPr lang="en-US" dirty="0" err="1" smtClean="0"/>
              <a:t>e.g</a:t>
            </a:r>
            <a:r>
              <a:rPr lang="en-US" dirty="0" smtClean="0"/>
              <a:t>  5832, 1115, 2358, 2997</a:t>
            </a:r>
            <a:endParaRPr lang="en-US" dirty="0" smtClean="0"/>
          </a:p>
          <a:p>
            <a:pPr>
              <a:buNone/>
            </a:pPr>
            <a:r>
              <a:rPr lang="en-US" b="1" dirty="0" smtClean="0"/>
              <a:t>(9) Rule of digit 11 </a:t>
            </a:r>
            <a:r>
              <a:rPr lang="en-US" b="1" dirty="0" smtClean="0">
                <a:sym typeface="Wingdings" panose="05000000000000000000"/>
              </a:rPr>
              <a:t>9.1</a:t>
            </a:r>
            <a:r>
              <a:rPr lang="en-US" b="1" dirty="0" smtClean="0"/>
              <a:t> difference of (summation of odd digits, summation of even digits ) should be 0,11 </a:t>
            </a:r>
            <a:endParaRPr lang="en-US" dirty="0" smtClean="0"/>
          </a:p>
          <a:p>
            <a:r>
              <a:rPr lang="en-US" dirty="0" err="1" smtClean="0"/>
              <a:t>e.g</a:t>
            </a:r>
            <a:r>
              <a:rPr lang="en-US" dirty="0" smtClean="0"/>
              <a:t>  7579, 16577,7891, 4589</a:t>
            </a:r>
            <a:endParaRPr lang="en-US" dirty="0" smtClean="0"/>
          </a:p>
          <a:p>
            <a:pPr>
              <a:buNone/>
            </a:pPr>
            <a:r>
              <a:rPr lang="en-US" b="1" dirty="0" smtClean="0"/>
              <a:t>9.2  22,2222,222222,33333333 (even repetitive digits are divisible with 11)</a:t>
            </a:r>
            <a:endParaRPr lang="en-US" dirty="0" smtClean="0"/>
          </a:p>
          <a:p>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pPr>
              <a:buNone/>
            </a:pPr>
            <a:r>
              <a:rPr lang="en-US" dirty="0" smtClean="0"/>
              <a:t>(1) In this number 5432*7 , what we can put in place of * to make it divisible with 9?</a:t>
            </a:r>
            <a:endParaRPr lang="en-US" dirty="0" smtClean="0"/>
          </a:p>
          <a:p>
            <a:pPr marL="624205" indent="-514350">
              <a:buAutoNum type="alphaUcParenBoth"/>
            </a:pPr>
            <a:r>
              <a:rPr lang="en-US" dirty="0" smtClean="0"/>
              <a:t>0  (B) 1  ( C) 6  (D) 9</a:t>
            </a:r>
            <a:endParaRPr lang="en-US" dirty="0" smtClean="0"/>
          </a:p>
          <a:p>
            <a:pPr marL="624205" indent="-514350">
              <a:buNone/>
            </a:pPr>
            <a:endParaRPr lang="en-US" dirty="0" smtClean="0"/>
          </a:p>
          <a:p>
            <a:pPr marL="624205" indent="-514350">
              <a:buNone/>
            </a:pPr>
            <a:r>
              <a:rPr lang="en-US" dirty="0" smtClean="0"/>
              <a:t>Sum of digits 5+4+3+2+7+* = 21+*</a:t>
            </a:r>
            <a:endParaRPr lang="en-US" dirty="0" smtClean="0"/>
          </a:p>
          <a:p>
            <a:pPr marL="624205" indent="-514350">
              <a:buNone/>
            </a:pPr>
            <a:r>
              <a:rPr lang="en-US" dirty="0" smtClean="0"/>
              <a:t> * =6 , 27/9 = 3</a:t>
            </a:r>
            <a:endParaRPr lang="en-US" dirty="0" smtClean="0"/>
          </a:p>
          <a:p>
            <a:pPr marL="624205" indent="-514350">
              <a:buNone/>
            </a:pPr>
            <a:r>
              <a:rPr lang="en-US" dirty="0" err="1" smtClean="0"/>
              <a:t>Ans</a:t>
            </a:r>
            <a:r>
              <a:rPr lang="en-US" dirty="0" smtClean="0"/>
              <a:t> . 6</a:t>
            </a: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Divisibility Rules</a:t>
            </a:r>
            <a:endParaRPr lang="en-US" dirty="0"/>
          </a:p>
        </p:txBody>
      </p:sp>
      <p:sp>
        <p:nvSpPr>
          <p:cNvPr id="3" name="Content Placeholder 2"/>
          <p:cNvSpPr>
            <a:spLocks noGrp="1"/>
          </p:cNvSpPr>
          <p:nvPr>
            <p:ph idx="1"/>
          </p:nvPr>
        </p:nvSpPr>
        <p:spPr/>
        <p:txBody>
          <a:bodyPr>
            <a:normAutofit fontScale="55000" lnSpcReduction="20000"/>
          </a:bodyPr>
          <a:lstStyle/>
          <a:p>
            <a:pPr>
              <a:buNone/>
            </a:pPr>
            <a:r>
              <a:rPr lang="en-US" b="1" dirty="0" smtClean="0"/>
              <a:t>(10) </a:t>
            </a:r>
            <a:r>
              <a:rPr lang="en-US" sz="3100" b="1" dirty="0" smtClean="0"/>
              <a:t>Rule of 13 </a:t>
            </a:r>
            <a:r>
              <a:rPr lang="en-US" sz="3100" b="1" dirty="0" smtClean="0">
                <a:sym typeface="Wingdings" panose="05000000000000000000"/>
              </a:rPr>
              <a:t></a:t>
            </a:r>
            <a:r>
              <a:rPr lang="en-US" sz="3100" b="1" dirty="0" smtClean="0"/>
              <a:t>Multiply unit digit with 4 and add the answer with following digit, do it repetitively till you are able to divide it with 13.</a:t>
            </a:r>
            <a:endParaRPr lang="en-US" sz="3100" dirty="0" smtClean="0"/>
          </a:p>
          <a:p>
            <a:r>
              <a:rPr lang="en-US" sz="3100" dirty="0" err="1" smtClean="0"/>
              <a:t>e.g</a:t>
            </a:r>
            <a:r>
              <a:rPr lang="en-US" sz="3100" dirty="0" smtClean="0"/>
              <a:t> 637, 6721,58968</a:t>
            </a:r>
            <a:endParaRPr lang="en-US" sz="3100" dirty="0" smtClean="0"/>
          </a:p>
          <a:p>
            <a:pPr>
              <a:buNone/>
            </a:pPr>
            <a:r>
              <a:rPr lang="en-US" sz="3100" b="1" dirty="0" smtClean="0"/>
              <a:t>(11) Rule of 17 </a:t>
            </a:r>
            <a:r>
              <a:rPr lang="en-US" sz="3100" b="1" dirty="0" smtClean="0">
                <a:sym typeface="Wingdings" panose="05000000000000000000"/>
              </a:rPr>
              <a:t></a:t>
            </a:r>
            <a:r>
              <a:rPr lang="en-US" sz="3100" b="1" dirty="0" smtClean="0"/>
              <a:t>Multiply unit digit with 12 and add the answer with following digit, do it repetitively till you are able to divide it with 17.</a:t>
            </a:r>
            <a:endParaRPr lang="en-US" sz="3100" dirty="0" smtClean="0"/>
          </a:p>
          <a:p>
            <a:r>
              <a:rPr lang="en-US" sz="3100" dirty="0" err="1" smtClean="0"/>
              <a:t>e.g</a:t>
            </a:r>
            <a:r>
              <a:rPr lang="en-US" sz="3100" dirty="0" smtClean="0"/>
              <a:t> 13345,1003, 1462</a:t>
            </a:r>
            <a:endParaRPr lang="en-US" sz="3100" dirty="0" smtClean="0"/>
          </a:p>
          <a:p>
            <a:pPr>
              <a:buNone/>
            </a:pPr>
            <a:r>
              <a:rPr lang="en-US" sz="3100" b="1" dirty="0" smtClean="0"/>
              <a:t>(12) Rule of 19 </a:t>
            </a:r>
            <a:r>
              <a:rPr lang="en-US" sz="3100" b="1" dirty="0" smtClean="0">
                <a:sym typeface="Wingdings" panose="05000000000000000000"/>
              </a:rPr>
              <a:t></a:t>
            </a:r>
            <a:r>
              <a:rPr lang="en-US" sz="3100" b="1" dirty="0" smtClean="0"/>
              <a:t>Multiply unit digit with 2 and add the answer with following digit, do it repetitively till you are able to divide it with 19.</a:t>
            </a:r>
            <a:endParaRPr lang="en-US" sz="3100" dirty="0" smtClean="0"/>
          </a:p>
          <a:p>
            <a:r>
              <a:rPr lang="en-US" sz="3100" dirty="0" err="1" smtClean="0"/>
              <a:t>e.g</a:t>
            </a:r>
            <a:r>
              <a:rPr lang="en-US" sz="3100" dirty="0" smtClean="0"/>
              <a:t> 16397, 1482</a:t>
            </a:r>
            <a:endParaRPr lang="en-US" sz="3100" dirty="0" smtClean="0"/>
          </a:p>
          <a:p>
            <a:pPr>
              <a:buNone/>
            </a:pPr>
            <a:r>
              <a:rPr lang="en-US" sz="3100" b="1" dirty="0" smtClean="0"/>
              <a:t>(13) Rule of 23 </a:t>
            </a:r>
            <a:r>
              <a:rPr lang="en-US" sz="3100" b="1" dirty="0" smtClean="0">
                <a:sym typeface="Wingdings" panose="05000000000000000000"/>
              </a:rPr>
              <a:t></a:t>
            </a:r>
            <a:r>
              <a:rPr lang="en-US" sz="3100" b="1" dirty="0" smtClean="0"/>
              <a:t>Multiply unit digit with 7 and add the answer with following digit, do it repetitively till you are able to divide it with 23.</a:t>
            </a:r>
            <a:endParaRPr lang="en-US" sz="3100" dirty="0" smtClean="0"/>
          </a:p>
          <a:p>
            <a:r>
              <a:rPr lang="en-US" sz="3100" dirty="0" err="1" smtClean="0"/>
              <a:t>e.g</a:t>
            </a:r>
            <a:r>
              <a:rPr lang="en-US" sz="3100" dirty="0" smtClean="0"/>
              <a:t> 1932, 18147</a:t>
            </a:r>
            <a:endParaRPr lang="en-US" sz="3100" dirty="0" smtClean="0"/>
          </a:p>
          <a:p>
            <a:pPr>
              <a:buNone/>
            </a:pPr>
            <a:r>
              <a:rPr lang="en-US" sz="3100" b="1" dirty="0" smtClean="0"/>
              <a:t>(14) Rule of 29 </a:t>
            </a:r>
            <a:r>
              <a:rPr lang="en-US" sz="3100" b="1" dirty="0" smtClean="0">
                <a:sym typeface="Wingdings" panose="05000000000000000000"/>
              </a:rPr>
              <a:t></a:t>
            </a:r>
            <a:r>
              <a:rPr lang="en-US" sz="3100" b="1" dirty="0" smtClean="0"/>
              <a:t>Multiply unit digit with 3 and add the answer with following digit, do it repetitively till you are able to divide it with 29.</a:t>
            </a:r>
            <a:endParaRPr lang="en-US" sz="3100" dirty="0" smtClean="0"/>
          </a:p>
          <a:p>
            <a:r>
              <a:rPr lang="en-US" sz="3100" dirty="0" err="1" smtClean="0"/>
              <a:t>e.g</a:t>
            </a:r>
            <a:r>
              <a:rPr lang="en-US" sz="3100" dirty="0" smtClean="0"/>
              <a:t> 4205, 2262</a:t>
            </a:r>
            <a:endParaRPr lang="en-US" sz="3100" dirty="0" smtClean="0"/>
          </a:p>
          <a:p>
            <a:endParaRPr lang="en-US" sz="31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Rules for solving number system problems</a:t>
            </a:r>
            <a:endParaRPr lang="en-US" dirty="0"/>
          </a:p>
        </p:txBody>
      </p:sp>
      <p:sp>
        <p:nvSpPr>
          <p:cNvPr id="3" name="Content Placeholder 2"/>
          <p:cNvSpPr>
            <a:spLocks noGrp="1"/>
          </p:cNvSpPr>
          <p:nvPr>
            <p:ph idx="1"/>
          </p:nvPr>
        </p:nvSpPr>
        <p:spPr/>
        <p:txBody>
          <a:bodyPr/>
          <a:lstStyle/>
          <a:p>
            <a:r>
              <a:rPr lang="en-US" dirty="0" smtClean="0"/>
              <a:t>Only focus on given question.</a:t>
            </a:r>
            <a:endParaRPr lang="en-US" dirty="0" smtClean="0"/>
          </a:p>
          <a:p>
            <a:r>
              <a:rPr lang="en-US" dirty="0" smtClean="0"/>
              <a:t>Make it understandable.</a:t>
            </a:r>
            <a:endParaRPr lang="en-US" dirty="0" smtClean="0"/>
          </a:p>
          <a:p>
            <a:r>
              <a:rPr lang="en-US" dirty="0" smtClean="0"/>
              <a:t>Simplify the terms.</a:t>
            </a:r>
            <a:endParaRPr lang="en-US" dirty="0" smtClean="0"/>
          </a:p>
          <a:p>
            <a:pPr>
              <a:buNone/>
            </a:pPr>
            <a:r>
              <a:rPr lang="en-US" dirty="0" smtClean="0">
                <a:solidFill>
                  <a:srgbClr val="FF0000"/>
                </a:solidFill>
                <a:effectLst>
                  <a:outerShdw blurRad="38100" dist="38100" dir="2700000" algn="tl">
                    <a:srgbClr val="000000">
                      <a:alpha val="43137"/>
                    </a:srgbClr>
                  </a:outerShdw>
                </a:effectLst>
              </a:rPr>
              <a:t>Most of times we do aptitudes in our engineering sums and derivations. </a:t>
            </a:r>
            <a:endParaRPr lang="en-US" dirty="0" smtClean="0">
              <a:solidFill>
                <a:srgbClr val="FF0000"/>
              </a:solidFill>
              <a:effectLst>
                <a:outerShdw blurRad="38100" dist="38100" dir="2700000" algn="tl">
                  <a:srgbClr val="000000">
                    <a:alpha val="43137"/>
                  </a:srgbClr>
                </a:outerShdw>
              </a:effectLst>
            </a:endParaRPr>
          </a:p>
          <a:p>
            <a:r>
              <a:rPr lang="en-US" dirty="0" smtClean="0"/>
              <a:t>Its not always focus on sequential data, focus on what is asked, that is the main trick.</a:t>
            </a:r>
            <a:endParaRPr lang="en-US" dirty="0" smtClean="0"/>
          </a:p>
          <a:p>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Number systems examples</a:t>
            </a:r>
            <a:br>
              <a:rPr lang="en-US" dirty="0" smtClean="0"/>
            </a:br>
            <a:endParaRPr lang="en-US" dirty="0"/>
          </a:p>
        </p:txBody>
      </p:sp>
      <p:sp>
        <p:nvSpPr>
          <p:cNvPr id="3" name="Content Placeholder 2"/>
          <p:cNvSpPr>
            <a:spLocks noGrp="1"/>
          </p:cNvSpPr>
          <p:nvPr>
            <p:ph idx="1"/>
          </p:nvPr>
        </p:nvSpPr>
        <p:spPr>
          <a:xfrm>
            <a:off x="457200" y="2057400"/>
            <a:ext cx="8229600" cy="4325112"/>
          </a:xfrm>
        </p:spPr>
        <p:txBody>
          <a:bodyPr/>
          <a:lstStyle/>
          <a:p>
            <a:pPr marL="624205" indent="-514350" algn="just">
              <a:buAutoNum type="arabicParenBoth"/>
            </a:pPr>
            <a:r>
              <a:rPr lang="en-US" b="1" dirty="0" smtClean="0"/>
              <a:t>The sum of two numbers is 64 and their product is 236. What will be the sum of their reciprocals?</a:t>
            </a:r>
            <a:endParaRPr lang="en-US" b="1" dirty="0" smtClean="0"/>
          </a:p>
          <a:p>
            <a:pPr marL="624205" indent="-514350" algn="just">
              <a:buNone/>
            </a:pPr>
            <a:r>
              <a:rPr lang="en-US" b="1" dirty="0" smtClean="0"/>
              <a:t>Solution:</a:t>
            </a:r>
            <a:endParaRPr lang="en-US" b="1" dirty="0" smtClean="0"/>
          </a:p>
          <a:p>
            <a:pPr marL="624205" indent="-514350" algn="ctr">
              <a:buNone/>
            </a:pPr>
            <a:r>
              <a:rPr lang="en-US" dirty="0" smtClean="0"/>
              <a:t> let say </a:t>
            </a:r>
            <a:r>
              <a:rPr lang="en-US" dirty="0" err="1" smtClean="0"/>
              <a:t>a+b</a:t>
            </a:r>
            <a:r>
              <a:rPr lang="en-US" dirty="0" smtClean="0"/>
              <a:t> =64, a= 64-b</a:t>
            </a:r>
            <a:endParaRPr lang="en-US" dirty="0" smtClean="0"/>
          </a:p>
          <a:p>
            <a:pPr marL="624205" indent="-514350" algn="ctr">
              <a:buNone/>
            </a:pPr>
            <a:r>
              <a:rPr lang="en-US" dirty="0" smtClean="0"/>
              <a:t>             a*b = 236</a:t>
            </a:r>
            <a:endParaRPr lang="en-US" dirty="0" smtClean="0"/>
          </a:p>
          <a:p>
            <a:pPr marL="624205" indent="-514350" algn="ctr">
              <a:buNone/>
            </a:pPr>
            <a:r>
              <a:rPr lang="en-US" dirty="0" smtClean="0"/>
              <a:t>             (64-b)*b = 236</a:t>
            </a:r>
            <a:endParaRPr lang="en-US" dirty="0" smtClean="0"/>
          </a:p>
          <a:p>
            <a:pPr marL="624205" indent="-514350" algn="ctr">
              <a:buNone/>
            </a:pPr>
            <a:r>
              <a:rPr lang="en-US" dirty="0" smtClean="0"/>
              <a:t>            64b-b</a:t>
            </a:r>
            <a:r>
              <a:rPr lang="en-US" baseline="30000" dirty="0" smtClean="0"/>
              <a:t>2</a:t>
            </a:r>
            <a:r>
              <a:rPr lang="en-US" dirty="0" smtClean="0"/>
              <a:t>= 236</a:t>
            </a:r>
            <a:endParaRPr lang="en-US" dirty="0" smtClean="0"/>
          </a:p>
          <a:p>
            <a:pPr marL="624205" indent="-514350" algn="ctr">
              <a:buNone/>
            </a:pPr>
            <a:r>
              <a:rPr lang="en-US" dirty="0" smtClean="0"/>
              <a:t>And you find b. is it?</a:t>
            </a:r>
            <a:endParaRPr lang="en-US" dirty="0" smtClean="0"/>
          </a:p>
          <a:p>
            <a:pPr marL="624205" indent="-514350" algn="just">
              <a:buNone/>
            </a:pPr>
            <a:endParaRPr lang="en-US" dirty="0"/>
          </a:p>
        </p:txBody>
      </p:sp>
    </p:spTree>
  </p:cSld>
  <p:clrMapOvr>
    <a:masterClrMapping/>
  </p:clrMapOvr>
  <p:transition>
    <p:wipe dir="d"/>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Number systems examples</a:t>
            </a:r>
            <a:endParaRPr lang="en-US" dirty="0"/>
          </a:p>
        </p:txBody>
      </p:sp>
      <p:sp>
        <p:nvSpPr>
          <p:cNvPr id="3" name="Content Placeholder 2"/>
          <p:cNvSpPr>
            <a:spLocks noGrp="1"/>
          </p:cNvSpPr>
          <p:nvPr>
            <p:ph idx="1"/>
          </p:nvPr>
        </p:nvSpPr>
        <p:spPr/>
        <p:txBody>
          <a:bodyPr>
            <a:normAutofit lnSpcReduction="10000"/>
          </a:bodyPr>
          <a:lstStyle/>
          <a:p>
            <a:pPr>
              <a:buNone/>
            </a:pPr>
            <a:r>
              <a:rPr lang="en-US" dirty="0" smtClean="0"/>
              <a:t>(2) In a poultry farm  having hens and pigs, </a:t>
            </a:r>
            <a:r>
              <a:rPr lang="en-US" dirty="0" err="1" smtClean="0"/>
              <a:t>Rohan</a:t>
            </a:r>
            <a:r>
              <a:rPr lang="en-US" dirty="0" smtClean="0"/>
              <a:t> can see 84 heads and 282 legs. How many hens are there?</a:t>
            </a:r>
            <a:endParaRPr lang="en-US" dirty="0" smtClean="0"/>
          </a:p>
          <a:p>
            <a:pPr>
              <a:buNone/>
            </a:pPr>
            <a:r>
              <a:rPr lang="en-US" b="1" dirty="0" err="1" smtClean="0"/>
              <a:t>Ans</a:t>
            </a:r>
            <a:r>
              <a:rPr lang="en-US" b="1" dirty="0" smtClean="0"/>
              <a:t> Hens = 27</a:t>
            </a:r>
            <a:endParaRPr lang="en-US" b="1" dirty="0" smtClean="0"/>
          </a:p>
          <a:p>
            <a:pPr>
              <a:buNone/>
            </a:pPr>
            <a:r>
              <a:rPr lang="en-US" dirty="0" smtClean="0"/>
              <a:t> </a:t>
            </a:r>
            <a:endParaRPr lang="en-US" dirty="0" smtClean="0"/>
          </a:p>
          <a:p>
            <a:pPr>
              <a:buNone/>
            </a:pPr>
            <a:r>
              <a:rPr lang="en-US" dirty="0" smtClean="0"/>
              <a:t>(3) Summation of five consecutive numbers  is found out to be 710 . If we add largest and smallest number what we will get?</a:t>
            </a:r>
            <a:endParaRPr lang="en-US" dirty="0" smtClean="0"/>
          </a:p>
          <a:p>
            <a:pPr>
              <a:buNone/>
            </a:pPr>
            <a:r>
              <a:rPr lang="en-US" dirty="0" smtClean="0"/>
              <a:t> </a:t>
            </a:r>
            <a:r>
              <a:rPr lang="en-US" b="1" dirty="0" smtClean="0"/>
              <a:t>Ans. </a:t>
            </a:r>
            <a:r>
              <a:rPr lang="en-US" b="1" smtClean="0"/>
              <a:t>284</a:t>
            </a:r>
            <a:endParaRPr lang="en-US" b="1" dirty="0" smtClean="0"/>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Number systems examples</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dirty="0" smtClean="0"/>
              <a:t>(4) Since Raj was not paying attention in class, instead of multiplying  M by ¾ , he divided by ¾ . This is led to difference of 14 between two answers. What is the value of M?</a:t>
            </a:r>
            <a:endParaRPr lang="en-US" dirty="0" smtClean="0"/>
          </a:p>
          <a:p>
            <a:pPr>
              <a:buNone/>
            </a:pPr>
            <a:r>
              <a:rPr lang="en-US" b="1" dirty="0" smtClean="0"/>
              <a:t>Ans. 24</a:t>
            </a:r>
            <a:endParaRPr lang="en-US" b="1" dirty="0" smtClean="0"/>
          </a:p>
          <a:p>
            <a:pPr>
              <a:buNone/>
            </a:pPr>
            <a:r>
              <a:rPr lang="en-US" dirty="0" smtClean="0"/>
              <a:t>(5) Raman has 2 urns. Both urns have some </a:t>
            </a:r>
            <a:r>
              <a:rPr lang="en-US" dirty="0" err="1" smtClean="0"/>
              <a:t>pabbles</a:t>
            </a:r>
            <a:r>
              <a:rPr lang="en-US" dirty="0" smtClean="0"/>
              <a:t>. If 20 </a:t>
            </a:r>
            <a:r>
              <a:rPr lang="en-US" dirty="0" err="1" smtClean="0"/>
              <a:t>pabbles</a:t>
            </a:r>
            <a:r>
              <a:rPr lang="en-US" dirty="0" smtClean="0"/>
              <a:t> from urn B are shifted to urn A then, the number of </a:t>
            </a:r>
            <a:r>
              <a:rPr lang="en-US" dirty="0" err="1" smtClean="0"/>
              <a:t>pabbles</a:t>
            </a:r>
            <a:r>
              <a:rPr lang="en-US" dirty="0" smtClean="0"/>
              <a:t> in each urn become interchanged. But if 10 </a:t>
            </a:r>
            <a:r>
              <a:rPr lang="en-US" dirty="0" err="1" smtClean="0"/>
              <a:t>pabbles</a:t>
            </a:r>
            <a:r>
              <a:rPr lang="en-US" dirty="0" smtClean="0"/>
              <a:t> from urn A are put into urn B, then the number of </a:t>
            </a:r>
            <a:r>
              <a:rPr lang="en-US" dirty="0" err="1" smtClean="0"/>
              <a:t>pabbles</a:t>
            </a:r>
            <a:r>
              <a:rPr lang="en-US" dirty="0" smtClean="0"/>
              <a:t> in B are twice the number in A.  How many </a:t>
            </a:r>
            <a:r>
              <a:rPr lang="en-US" dirty="0" err="1" smtClean="0"/>
              <a:t>pabbles</a:t>
            </a:r>
            <a:r>
              <a:rPr lang="en-US" dirty="0" smtClean="0"/>
              <a:t> do A and B have respectively? </a:t>
            </a:r>
            <a:endParaRPr lang="en-US" dirty="0" smtClean="0"/>
          </a:p>
          <a:p>
            <a:pPr>
              <a:buNone/>
            </a:pPr>
            <a:r>
              <a:rPr lang="en-US" b="1" dirty="0" smtClean="0"/>
              <a:t>Ans. A=50…..B=70 </a:t>
            </a:r>
            <a:endParaRPr lang="en-US" b="1" dirty="0"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Number systems examples</a:t>
            </a:r>
            <a:endParaRPr lang="en-US" dirty="0"/>
          </a:p>
        </p:txBody>
      </p:sp>
      <p:sp>
        <p:nvSpPr>
          <p:cNvPr id="3" name="Content Placeholder 2"/>
          <p:cNvSpPr>
            <a:spLocks noGrp="1"/>
          </p:cNvSpPr>
          <p:nvPr>
            <p:ph idx="1"/>
          </p:nvPr>
        </p:nvSpPr>
        <p:spPr/>
        <p:txBody>
          <a:bodyPr/>
          <a:lstStyle/>
          <a:p>
            <a:pPr>
              <a:buNone/>
            </a:pPr>
            <a:r>
              <a:rPr lang="en-US" dirty="0" smtClean="0"/>
              <a:t>(6) On exchanging  the digit in unit’s and ten’s place, the difference between original and new numbers becomes 27. The digit in unit’s place in 2 times the digit in hundred’s place. The digit in ten’s place is 3 times the digit in hundred’s place . What is 75 % of original number?</a:t>
            </a:r>
            <a:endParaRPr lang="en-US" dirty="0" smtClean="0"/>
          </a:p>
          <a:p>
            <a:pPr>
              <a:buNone/>
            </a:pPr>
            <a:r>
              <a:rPr lang="en-US" dirty="0" err="1" smtClean="0"/>
              <a:t>Ans</a:t>
            </a:r>
            <a:r>
              <a:rPr lang="en-US" dirty="0" smtClean="0"/>
              <a:t> . </a:t>
            </a:r>
            <a:r>
              <a:rPr lang="en-US" b="1" dirty="0" smtClean="0"/>
              <a:t>297</a:t>
            </a:r>
            <a:endParaRPr lang="en-US" b="1"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Number systems examples</a:t>
            </a:r>
            <a:endParaRPr lang="en-US" dirty="0"/>
          </a:p>
        </p:txBody>
      </p:sp>
      <p:sp>
        <p:nvSpPr>
          <p:cNvPr id="3" name="Content Placeholder 2"/>
          <p:cNvSpPr>
            <a:spLocks noGrp="1"/>
          </p:cNvSpPr>
          <p:nvPr>
            <p:ph idx="1"/>
          </p:nvPr>
        </p:nvSpPr>
        <p:spPr/>
        <p:txBody>
          <a:bodyPr/>
          <a:lstStyle/>
          <a:p>
            <a:pPr>
              <a:buNone/>
            </a:pPr>
            <a:r>
              <a:rPr lang="en-US" dirty="0" smtClean="0"/>
              <a:t>(7) In an area 2% families have 5 children each. But 8% have no children at all. The rest of families 18% have 4 children and 27% have only one child. How many families live in the area, if 297 families have either 2 or 3 children?</a:t>
            </a:r>
            <a:endParaRPr lang="en-US" dirty="0" smtClean="0"/>
          </a:p>
          <a:p>
            <a:pPr>
              <a:buNone/>
            </a:pPr>
            <a:r>
              <a:rPr lang="en-US" b="1" dirty="0" smtClean="0"/>
              <a:t>Ans.660 Families</a:t>
            </a:r>
            <a:endParaRPr lang="en-US" b="1"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Number systems examples</a:t>
            </a:r>
            <a:endParaRPr lang="en-US" dirty="0"/>
          </a:p>
        </p:txBody>
      </p:sp>
      <p:sp>
        <p:nvSpPr>
          <p:cNvPr id="3" name="Content Placeholder 2"/>
          <p:cNvSpPr>
            <a:spLocks noGrp="1"/>
          </p:cNvSpPr>
          <p:nvPr>
            <p:ph idx="1"/>
          </p:nvPr>
        </p:nvSpPr>
        <p:spPr/>
        <p:txBody>
          <a:bodyPr>
            <a:normAutofit fontScale="85000" lnSpcReduction="10000"/>
          </a:bodyPr>
          <a:lstStyle/>
          <a:p>
            <a:pPr algn="just">
              <a:buNone/>
            </a:pPr>
            <a:r>
              <a:rPr lang="en-US" dirty="0" smtClean="0"/>
              <a:t>(8) ¾ part of tank is full of water. When 30 liters of water is taken out it becomes empty. The capacity of tank is?</a:t>
            </a:r>
            <a:endParaRPr lang="en-US" dirty="0" smtClean="0"/>
          </a:p>
          <a:p>
            <a:pPr algn="just">
              <a:buNone/>
            </a:pPr>
            <a:r>
              <a:rPr lang="en-US" b="1" dirty="0" smtClean="0"/>
              <a:t>Ans. 40 Liters</a:t>
            </a:r>
            <a:endParaRPr lang="en-US" b="1" dirty="0" smtClean="0"/>
          </a:p>
          <a:p>
            <a:pPr algn="just">
              <a:buNone/>
            </a:pPr>
            <a:r>
              <a:rPr lang="en-US" dirty="0" smtClean="0"/>
              <a:t>(9) A group wanted to renovate their club. Each member contributed an amount equal to  twice the number of members in the club. But the Govt. contributed same amount as the number of members. If each member had contributed the same amount as the number of members and the government had given an amount twice the number of members, then they would have 210 Rs less. How many members are there?</a:t>
            </a:r>
            <a:endParaRPr lang="en-US" dirty="0" smtClean="0"/>
          </a:p>
          <a:p>
            <a:pPr>
              <a:buNone/>
            </a:pPr>
            <a:r>
              <a:rPr lang="en-US" b="1" dirty="0" smtClean="0"/>
              <a:t>Ans. 15</a:t>
            </a:r>
            <a:endParaRPr lang="en-US" b="1"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Number systems examples</a:t>
            </a:r>
            <a:endParaRPr lang="en-US" dirty="0"/>
          </a:p>
        </p:txBody>
      </p:sp>
      <p:sp>
        <p:nvSpPr>
          <p:cNvPr id="3" name="Content Placeholder 2"/>
          <p:cNvSpPr>
            <a:spLocks noGrp="1"/>
          </p:cNvSpPr>
          <p:nvPr>
            <p:ph idx="1"/>
          </p:nvPr>
        </p:nvSpPr>
        <p:spPr/>
        <p:txBody>
          <a:bodyPr/>
          <a:lstStyle/>
          <a:p>
            <a:pPr>
              <a:buNone/>
            </a:pPr>
            <a:r>
              <a:rPr lang="en-US" dirty="0" smtClean="0"/>
              <a:t>(10) 280 oranges are divided among some boys and girls whose total number is 50 so that each boy gets 5 oranges and each girl get 7 oranges. The number of girls is?</a:t>
            </a:r>
            <a:endParaRPr lang="en-US" dirty="0" smtClean="0"/>
          </a:p>
          <a:p>
            <a:pPr>
              <a:buNone/>
            </a:pPr>
            <a:r>
              <a:rPr lang="en-US" b="1" dirty="0" smtClean="0"/>
              <a:t>Ans.15</a:t>
            </a:r>
            <a:endParaRPr lang="en-US" b="1" dirty="0"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Averages</a:t>
            </a:r>
            <a:endParaRPr lang="en-US" dirty="0"/>
          </a:p>
        </p:txBody>
      </p:sp>
      <p:sp>
        <p:nvSpPr>
          <p:cNvPr id="3" name="Content Placeholder 2"/>
          <p:cNvSpPr>
            <a:spLocks noGrp="1"/>
          </p:cNvSpPr>
          <p:nvPr>
            <p:ph idx="1"/>
          </p:nvPr>
        </p:nvSpPr>
        <p:spPr/>
        <p:txBody>
          <a:bodyPr/>
          <a:lstStyle/>
          <a:p>
            <a:r>
              <a:rPr lang="en-US" dirty="0" smtClean="0"/>
              <a:t>Main formula of average</a:t>
            </a:r>
            <a:endParaRPr lang="en-US" dirty="0" smtClean="0"/>
          </a:p>
          <a:p>
            <a:pPr>
              <a:buNone/>
            </a:pPr>
            <a:r>
              <a:rPr lang="en-US" dirty="0" smtClean="0"/>
              <a:t> </a:t>
            </a:r>
            <a:endParaRPr lang="en-US" dirty="0"/>
          </a:p>
        </p:txBody>
      </p:sp>
      <p:pic>
        <p:nvPicPr>
          <p:cNvPr id="4" name="Picture 3" descr="index.png"/>
          <p:cNvPicPr>
            <a:picLocks noChangeAspect="1"/>
          </p:cNvPicPr>
          <p:nvPr/>
        </p:nvPicPr>
        <p:blipFill>
          <a:blip r:embed="rId1"/>
          <a:stretch>
            <a:fillRect/>
          </a:stretch>
        </p:blipFill>
        <p:spPr>
          <a:xfrm>
            <a:off x="1066800" y="2895600"/>
            <a:ext cx="6858000" cy="3048000"/>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066800"/>
          </a:xfrm>
        </p:spPr>
        <p:txBody>
          <a:bodyPr/>
          <a:lstStyle/>
          <a:p>
            <a:r>
              <a:rPr lang="en-US" dirty="0" smtClean="0"/>
              <a:t>Average Sums</a:t>
            </a:r>
            <a:endParaRPr lang="en-US" dirty="0"/>
          </a:p>
        </p:txBody>
      </p:sp>
      <p:sp>
        <p:nvSpPr>
          <p:cNvPr id="3" name="Content Placeholder 2"/>
          <p:cNvSpPr>
            <a:spLocks noGrp="1"/>
          </p:cNvSpPr>
          <p:nvPr>
            <p:ph idx="1"/>
          </p:nvPr>
        </p:nvSpPr>
        <p:spPr>
          <a:xfrm>
            <a:off x="533400" y="1676400"/>
            <a:ext cx="8229600" cy="4325112"/>
          </a:xfrm>
        </p:spPr>
        <p:txBody>
          <a:bodyPr/>
          <a:lstStyle/>
          <a:p>
            <a:pPr marL="624205" indent="-514350">
              <a:buAutoNum type="arabicPeriod"/>
            </a:pPr>
            <a:r>
              <a:rPr lang="en-US" dirty="0" smtClean="0"/>
              <a:t>Knowing that Vijay’s expenditure for first 3 days is Rs.100, Rs. 125 and Rs. 85, what is 4th day expenditure as his 4 days average expenditure Rs. 90?</a:t>
            </a:r>
            <a:endParaRPr lang="en-US" dirty="0" smtClean="0"/>
          </a:p>
          <a:p>
            <a:pPr marL="624205" indent="-514350">
              <a:buNone/>
            </a:pPr>
            <a:r>
              <a:rPr lang="en-US" b="1" dirty="0" smtClean="0"/>
              <a:t>Ans. 50 Rs</a:t>
            </a:r>
            <a:r>
              <a:rPr lang="en-US" dirty="0" smtClean="0"/>
              <a:t>.</a:t>
            </a:r>
            <a:endParaRPr lang="en-US" dirty="0"/>
          </a:p>
        </p:txBody>
      </p:sp>
      <p:pic>
        <p:nvPicPr>
          <p:cNvPr id="4" name="Picture 3" descr="Capture.PNG"/>
          <p:cNvPicPr>
            <a:picLocks noChangeAspect="1"/>
          </p:cNvPicPr>
          <p:nvPr/>
        </p:nvPicPr>
        <p:blipFill>
          <a:blip r:embed="rId1"/>
          <a:stretch>
            <a:fillRect/>
          </a:stretch>
        </p:blipFill>
        <p:spPr>
          <a:xfrm>
            <a:off x="2438400" y="3429000"/>
            <a:ext cx="5163271" cy="3219900"/>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Average Sums</a:t>
            </a:r>
            <a:endParaRPr lang="en-US" dirty="0"/>
          </a:p>
        </p:txBody>
      </p:sp>
      <p:sp>
        <p:nvSpPr>
          <p:cNvPr id="3" name="Content Placeholder 2"/>
          <p:cNvSpPr>
            <a:spLocks noGrp="1"/>
          </p:cNvSpPr>
          <p:nvPr>
            <p:ph idx="1"/>
          </p:nvPr>
        </p:nvSpPr>
        <p:spPr/>
        <p:txBody>
          <a:bodyPr>
            <a:normAutofit lnSpcReduction="10000"/>
          </a:bodyPr>
          <a:lstStyle/>
          <a:p>
            <a:pPr>
              <a:buNone/>
            </a:pPr>
            <a:r>
              <a:rPr lang="en-US" dirty="0" smtClean="0"/>
              <a:t>2. What will be average price of all the goods bought, if Ajay buys 30 erasers for Rs. 3 each, 35 chocolates for Rs. 10 each and 25 clips at the rate of Rs. 4 each?</a:t>
            </a:r>
            <a:endParaRPr lang="en-US" dirty="0" smtClean="0"/>
          </a:p>
          <a:p>
            <a:pPr>
              <a:buNone/>
            </a:pPr>
            <a:r>
              <a:rPr lang="en-US" b="1" dirty="0" smtClean="0"/>
              <a:t>Ans. 6</a:t>
            </a:r>
            <a:endParaRPr lang="en-US" b="1" dirty="0" smtClean="0"/>
          </a:p>
          <a:p>
            <a:pPr>
              <a:buNone/>
            </a:pPr>
            <a:r>
              <a:rPr lang="en-US" dirty="0" smtClean="0"/>
              <a:t>3. Of  the 20 cycles sold by Ajay, average cost of 12 cycles is Rs. 18000. In total he earned Rs.300000. What was the remaining cost of remaining cycles?</a:t>
            </a:r>
            <a:endParaRPr lang="en-US" dirty="0" smtClean="0"/>
          </a:p>
          <a:p>
            <a:pPr>
              <a:buNone/>
            </a:pPr>
            <a:r>
              <a:rPr lang="en-US" b="1" dirty="0" smtClean="0"/>
              <a:t>Ans. 10,500 Rs.</a:t>
            </a:r>
            <a:endParaRPr lang="en-US" b="1"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Average Sums</a:t>
            </a:r>
            <a:endParaRPr lang="en-US" dirty="0"/>
          </a:p>
        </p:txBody>
      </p:sp>
      <p:sp>
        <p:nvSpPr>
          <p:cNvPr id="3" name="Content Placeholder 2"/>
          <p:cNvSpPr>
            <a:spLocks noGrp="1"/>
          </p:cNvSpPr>
          <p:nvPr>
            <p:ph idx="1"/>
          </p:nvPr>
        </p:nvSpPr>
        <p:spPr/>
        <p:txBody>
          <a:bodyPr>
            <a:normAutofit lnSpcReduction="10000"/>
          </a:bodyPr>
          <a:lstStyle/>
          <a:p>
            <a:pPr>
              <a:buNone/>
            </a:pPr>
            <a:r>
              <a:rPr lang="en-US" dirty="0" smtClean="0"/>
              <a:t>4. Without considering the salary  of the boss, the average salary reduces by Rs. 1000. What will be salary of boss if average salary of 11 employees and the boss is Rs. 18,000?</a:t>
            </a:r>
            <a:endParaRPr lang="en-US" dirty="0" smtClean="0"/>
          </a:p>
          <a:p>
            <a:pPr>
              <a:buNone/>
            </a:pPr>
            <a:r>
              <a:rPr lang="en-US" b="1" dirty="0" smtClean="0"/>
              <a:t>Ans. 29,000</a:t>
            </a:r>
            <a:endParaRPr lang="en-US" b="1" dirty="0" smtClean="0"/>
          </a:p>
          <a:p>
            <a:pPr>
              <a:buNone/>
            </a:pPr>
            <a:r>
              <a:rPr lang="en-US" dirty="0" smtClean="0"/>
              <a:t>5. Average age of  5 people is 42 years. Another group has 8 people who have average age of 81 years. When both groups are mixed what is the average age of all people?</a:t>
            </a:r>
            <a:endParaRPr lang="en-US" dirty="0" smtClean="0"/>
          </a:p>
          <a:p>
            <a:pPr>
              <a:buNone/>
            </a:pPr>
            <a:r>
              <a:rPr lang="en-US" b="1" dirty="0" smtClean="0"/>
              <a:t>Ans. 66</a:t>
            </a:r>
            <a:endParaRPr lang="en-US" b="1"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Average Sums</a:t>
            </a:r>
            <a:endParaRPr lang="en-US" dirty="0"/>
          </a:p>
        </p:txBody>
      </p:sp>
      <p:sp>
        <p:nvSpPr>
          <p:cNvPr id="3" name="Content Placeholder 2"/>
          <p:cNvSpPr>
            <a:spLocks noGrp="1"/>
          </p:cNvSpPr>
          <p:nvPr>
            <p:ph idx="1"/>
          </p:nvPr>
        </p:nvSpPr>
        <p:spPr/>
        <p:txBody>
          <a:bodyPr/>
          <a:lstStyle/>
          <a:p>
            <a:pPr>
              <a:buNone/>
            </a:pPr>
            <a:r>
              <a:rPr lang="en-US" dirty="0" smtClean="0"/>
              <a:t>6. 3 Boxes have some average weight. When one box which weighs 89 kg is replaced by another box, the average weight </a:t>
            </a:r>
            <a:r>
              <a:rPr lang="en-US" dirty="0" err="1" smtClean="0"/>
              <a:t>incereses</a:t>
            </a:r>
            <a:r>
              <a:rPr lang="en-US" dirty="0" smtClean="0"/>
              <a:t> by 5 kg. How much the new box weighs? </a:t>
            </a:r>
            <a:endParaRPr lang="en-US" dirty="0" smtClean="0"/>
          </a:p>
          <a:p>
            <a:pPr>
              <a:buNone/>
            </a:pPr>
            <a:r>
              <a:rPr lang="en-US" b="1" dirty="0" smtClean="0"/>
              <a:t>Ans. 103 </a:t>
            </a:r>
            <a:r>
              <a:rPr lang="en-US" b="1" dirty="0" err="1" smtClean="0"/>
              <a:t>kgs</a:t>
            </a:r>
            <a:r>
              <a:rPr lang="en-US" b="1" dirty="0" smtClean="0"/>
              <a:t>.</a:t>
            </a:r>
            <a:endParaRPr lang="en-US" b="1" dirty="0" smtClean="0"/>
          </a:p>
          <a:p>
            <a:pPr>
              <a:buNone/>
            </a:pPr>
            <a:r>
              <a:rPr lang="en-US" dirty="0" smtClean="0"/>
              <a:t>7. How old will </a:t>
            </a:r>
            <a:r>
              <a:rPr lang="en-US" dirty="0" err="1" smtClean="0"/>
              <a:t>Raju</a:t>
            </a:r>
            <a:r>
              <a:rPr lang="en-US" dirty="0" smtClean="0"/>
              <a:t> be if ratio of his age and one of his  twin grandsons’ is 11:2 and average age of his  and his both grandsons is 50 years?</a:t>
            </a:r>
            <a:endParaRPr lang="en-US" dirty="0" smtClean="0"/>
          </a:p>
          <a:p>
            <a:pPr>
              <a:buNone/>
            </a:pPr>
            <a:r>
              <a:rPr lang="en-US" b="1" dirty="0" smtClean="0"/>
              <a:t>Ans. 110 years.</a:t>
            </a:r>
            <a:endParaRPr lang="en-US" b="1" dirty="0" smtClean="0"/>
          </a:p>
          <a:p>
            <a:pPr>
              <a:buNone/>
            </a:pPr>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Average Sums</a:t>
            </a:r>
            <a:endParaRPr lang="en-US" dirty="0"/>
          </a:p>
        </p:txBody>
      </p:sp>
      <p:sp>
        <p:nvSpPr>
          <p:cNvPr id="3" name="Content Placeholder 2"/>
          <p:cNvSpPr>
            <a:spLocks noGrp="1"/>
          </p:cNvSpPr>
          <p:nvPr>
            <p:ph idx="1"/>
          </p:nvPr>
        </p:nvSpPr>
        <p:spPr/>
        <p:txBody>
          <a:bodyPr>
            <a:normAutofit fontScale="85000" lnSpcReduction="10000"/>
          </a:bodyPr>
          <a:lstStyle/>
          <a:p>
            <a:pPr marL="624205" indent="-514350">
              <a:buAutoNum type="arabicPeriod" startAt="8"/>
            </a:pPr>
            <a:r>
              <a:rPr lang="en-US" dirty="0" smtClean="0"/>
              <a:t>Had Ajay scored 18 runs more in his 3</a:t>
            </a:r>
            <a:r>
              <a:rPr lang="en-US" baseline="30000" dirty="0" smtClean="0"/>
              <a:t>rd</a:t>
            </a:r>
            <a:r>
              <a:rPr lang="en-US" dirty="0" smtClean="0"/>
              <a:t> innings  and 4 runs  more in his 7</a:t>
            </a:r>
            <a:r>
              <a:rPr lang="en-US" baseline="30000" dirty="0" smtClean="0"/>
              <a:t>th</a:t>
            </a:r>
            <a:r>
              <a:rPr lang="en-US" dirty="0" smtClean="0"/>
              <a:t> innings , his average  would have become 66 runs. But it is 64 runs.  How many innings did he play?</a:t>
            </a:r>
            <a:endParaRPr lang="en-US" dirty="0" smtClean="0"/>
          </a:p>
          <a:p>
            <a:pPr marL="624205" indent="-514350">
              <a:buNone/>
            </a:pPr>
            <a:r>
              <a:rPr lang="en-US" b="1" dirty="0" smtClean="0"/>
              <a:t>Ans. 11 Innings </a:t>
            </a:r>
            <a:endParaRPr lang="en-US" b="1" dirty="0" smtClean="0"/>
          </a:p>
          <a:p>
            <a:pPr marL="624205" indent="-514350">
              <a:buAutoNum type="arabicPeriod" startAt="9"/>
            </a:pPr>
            <a:r>
              <a:rPr lang="en-US" dirty="0" smtClean="0"/>
              <a:t>In a group of people , the oldest and youngest have an age difference  of 100 years. If these two are left for counting , then the average age of the remaining 40 people is 28. The average age of entire group being 30, how old is the eldest person? </a:t>
            </a:r>
            <a:endParaRPr lang="en-US" dirty="0" smtClean="0"/>
          </a:p>
          <a:p>
            <a:pPr marL="624205" indent="-514350">
              <a:buNone/>
            </a:pPr>
            <a:r>
              <a:rPr lang="en-US" b="1" dirty="0" smtClean="0"/>
              <a:t>Ans. 20,120 (year)</a:t>
            </a:r>
            <a:endParaRPr lang="en-US" b="1" dirty="0" smtClean="0"/>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Average Sums</a:t>
            </a:r>
            <a:endParaRPr lang="en-US" dirty="0"/>
          </a:p>
        </p:txBody>
      </p:sp>
      <p:sp>
        <p:nvSpPr>
          <p:cNvPr id="3" name="Content Placeholder 2"/>
          <p:cNvSpPr>
            <a:spLocks noGrp="1"/>
          </p:cNvSpPr>
          <p:nvPr>
            <p:ph idx="1"/>
          </p:nvPr>
        </p:nvSpPr>
        <p:spPr/>
        <p:txBody>
          <a:bodyPr/>
          <a:lstStyle/>
          <a:p>
            <a:pPr>
              <a:buNone/>
            </a:pPr>
            <a:r>
              <a:rPr lang="en-US" dirty="0" smtClean="0"/>
              <a:t>10. A batsman played 11 innings and has a certain average. This average increases by 2  runs when his 3 innings of 32 runs,33 runs and 34 runs are replaced by 3 other innings. Find the average of these 3 new innings?</a:t>
            </a:r>
            <a:endParaRPr lang="en-US" dirty="0" smtClean="0"/>
          </a:p>
          <a:p>
            <a:pPr>
              <a:buNone/>
            </a:pPr>
            <a:r>
              <a:rPr lang="en-US" b="1" dirty="0" smtClean="0"/>
              <a:t>Ans. 40 1/3  or 40.33 </a:t>
            </a:r>
            <a:endParaRPr lang="en-US" b="1"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index.jpg"/>
          <p:cNvPicPr>
            <a:picLocks noChangeAspect="1"/>
          </p:cNvPicPr>
          <p:nvPr/>
        </p:nvPicPr>
        <p:blipFill>
          <a:blip r:embed="rId1"/>
          <a:stretch>
            <a:fillRect/>
          </a:stretch>
        </p:blipFill>
        <p:spPr>
          <a:xfrm>
            <a:off x="381000" y="762000"/>
            <a:ext cx="8534400" cy="5410200"/>
          </a:xfrm>
          <a:prstGeom prst="rect">
            <a:avLst/>
          </a:prstGeom>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Urban</Template>
  <TotalTime>0</TotalTime>
  <Words>11757</Words>
  <Application>WPS Presentation</Application>
  <PresentationFormat>On-screen Show (4:3)</PresentationFormat>
  <Paragraphs>447</Paragraphs>
  <Slides>37</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37</vt:i4>
      </vt:variant>
    </vt:vector>
  </HeadingPairs>
  <TitlesOfParts>
    <vt:vector size="48" baseType="lpstr">
      <vt:lpstr>Arial</vt:lpstr>
      <vt:lpstr>SimSun</vt:lpstr>
      <vt:lpstr>Wingdings</vt:lpstr>
      <vt:lpstr>Georgia</vt:lpstr>
      <vt:lpstr>Wingdings 2</vt:lpstr>
      <vt:lpstr>Calibri</vt:lpstr>
      <vt:lpstr>Trebuchet MS</vt:lpstr>
      <vt:lpstr>Microsoft YaHei</vt:lpstr>
      <vt:lpstr>Arial Unicode MS</vt:lpstr>
      <vt:lpstr>Wingdings</vt:lpstr>
      <vt:lpstr>Urban</vt:lpstr>
      <vt:lpstr> Number Systems</vt:lpstr>
      <vt:lpstr>Contents</vt:lpstr>
      <vt:lpstr>What is number systems? </vt:lpstr>
      <vt:lpstr>What is number systems? (Continue)</vt:lpstr>
      <vt:lpstr>Various types of numbers</vt:lpstr>
      <vt:lpstr>Various types of numbers</vt:lpstr>
      <vt:lpstr>Some logical questions related to numbers</vt:lpstr>
      <vt:lpstr>PowerPoint 演示文稿</vt:lpstr>
      <vt:lpstr>Unit Digit Concept</vt:lpstr>
      <vt:lpstr>Xn for Unit Digits (short cuts) </vt:lpstr>
      <vt:lpstr>Xn for Unit Digits (short cuts)</vt:lpstr>
      <vt:lpstr>(3) UNIT DIGIT CONCEPT FOR  (3,7) </vt:lpstr>
      <vt:lpstr>(4) Unit digit concept for (2,8)</vt:lpstr>
      <vt:lpstr>Practice questions</vt:lpstr>
      <vt:lpstr>Number of prime factors (SC trick) </vt:lpstr>
      <vt:lpstr>Total Number of factors (SC trick) </vt:lpstr>
      <vt:lpstr>Divisibility Rules </vt:lpstr>
      <vt:lpstr>Divisibility Rules</vt:lpstr>
      <vt:lpstr>Divisibility Rules</vt:lpstr>
      <vt:lpstr>Example</vt:lpstr>
      <vt:lpstr>Divisibility Rules</vt:lpstr>
      <vt:lpstr>Rules for solving number system problems</vt:lpstr>
      <vt:lpstr>Number systems examples </vt:lpstr>
      <vt:lpstr>Number systems examples</vt:lpstr>
      <vt:lpstr>Number systems examples</vt:lpstr>
      <vt:lpstr>Number systems examples</vt:lpstr>
      <vt:lpstr>Number systems examples</vt:lpstr>
      <vt:lpstr>Number systems examples</vt:lpstr>
      <vt:lpstr>Number systems examples</vt:lpstr>
      <vt:lpstr>Averages</vt:lpstr>
      <vt:lpstr>Average Sums</vt:lpstr>
      <vt:lpstr>Average Sums</vt:lpstr>
      <vt:lpstr>Average Sums</vt:lpstr>
      <vt:lpstr>Average Sums</vt:lpstr>
      <vt:lpstr>Average Sums</vt:lpstr>
      <vt:lpstr>Average Sums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Number Systems and Fractions, Decimals</dc:title>
  <dc:creator>TPO-wifi</dc:creator>
  <cp:lastModifiedBy>atmiya</cp:lastModifiedBy>
  <cp:revision>70</cp:revision>
  <dcterms:created xsi:type="dcterms:W3CDTF">2020-01-07T09:18:00Z</dcterms:created>
  <dcterms:modified xsi:type="dcterms:W3CDTF">2022-12-08T10:16:10Z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82C0D6B222384A37BB72D57C5F19612C</vt:lpwstr>
  </property>
  <property fmtid="{D5CDD505-2E9C-101B-9397-08002B2CF9AE}" pid="3" name="KSOProductBuildVer">
    <vt:lpwstr>1033-11.2.0.11417</vt:lpwstr>
  </property>
</Properties>
</file>